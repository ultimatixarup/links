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Slides/notesSlide1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6"/>
    <p:sldId id="262" r:id="rId8"/>
    <p:sldId id="264" r:id="rId10"/>
    <p:sldId id="259" r:id="rId5"/>
    <p:sldId id="266" r:id="rId17"/>
    <p:sldId id="267" r:id="rId18"/>
    <p:sldId id="258" r:id="rId4"/>
    <p:sldId id="261" r:id="rId7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skill for working with AI agents is communication plus ownership, not coding.</a:t>
            </a:r>
          </a:p>
          <a:p>
            <a:r>
              <a:rPr lang="en-US" dirty="0"/>
              <a:t>The playbook is free forever, with no signup and nothing to buy. Module 1 needs nothing installed; the only prerequisite is an AI chat assistant the learner already uses, or a friend for the paper version.</a:t>
            </a:r>
          </a:p>
          <a:p>
            <a:r>
              <a:rPr lang="en-US" dirty="0"/>
              <a:t>Not accredited, not a vendor certification, and no job guarantees.</a:t>
            </a:r>
          </a:p>
          <a:p>
            <a:r>
              <a:rPr lang="en-US" dirty="0"/>
              <a:t>Source: /workspace/presentations/architecture/career-playbook-architecture.md (verified against commit 4dd4953).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GitHub Pages: soft bandwidth limit of 100 GB per month. Module 1 weighs about 117 KB uncompressed (HTML 60 KB + playbook.js 23 KB + CSS + counter), so about 850,000 uncached loads per month. The landing page (about 55 KB) is about 1.8 million.</a:t>
            </a:r>
          </a:p>
          <a:p>
            <a:r>
              <a:rPr lang="en-US" dirty="0"/>
              <a:t>No per-user compute or storage cost, because state lives in each browser.</a:t>
            </a:r>
          </a:p>
          <a:p>
            <a:r>
              <a:rPr lang="en-US" dirty="0"/>
              <a:t>Limits: progress is per device (disclosed); volunteer signup is mailto only and lands in one personal inbox; volunteer_clicked and nav_clicked use sendBeacon, which the pages' connect-src 'none' blocks, so Chromium may undercount them. Copy, card, round, step, and scroll counts are fine.</a:t>
            </a:r>
          </a:p>
          <a:p>
            <a:r>
              <a:rPr lang="en-US" dirty="0"/>
              <a:t>Also: the help bot does not know the playbook yet.</a:t>
            </a:r>
          </a:p>
          <a:p>
            <a:r>
              <a:rPr lang="en-US" dirty="0"/>
              <a:t>Source: /workspace/presentations/architecture/career-playbook-architecture.md (verified against commit 4dd4953).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fictional bike-shop bot, two briefs, scored in the free Agent Health Checker: vague brief 20/100, "Not safe for customer traffic"; five-line brief 66/100. Author's run on October 1, 2026, as reported on the Module 1 page.</a:t>
            </a:r>
          </a:p>
          <a:p>
            <a:r>
              <a:rPr lang="en-US" dirty="0"/>
              <a:t>The Health Checker is a heuristic check, not a guarantee of agent quality.</a:t>
            </a:r>
          </a:p>
          <a:p>
            <a:r>
              <a:rPr lang="en-US" dirty="0"/>
              <a:t>The five lines are the Brief Card fields: Intent, Context, Constraints, Done when, Examples.</a:t>
            </a:r>
          </a:p>
          <a:p>
            <a:r>
              <a:rPr lang="en-US" dirty="0"/>
              <a:t>Source: /workspace/presentations/architecture/career-playbook-architecture.md (verified against commit 4dd4953).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it is for, as listed on the landing page: people returning to work (including homemakers), career changers, professionals outside software, and developers (including 30-year Java veterans).</a:t>
            </a:r>
          </a:p>
          <a:p>
            <a:r>
              <a:rPr lang="en-US" dirty="0"/>
              <a:t>The nurse, teacher, and shop-owner examples are fictional illustrations, not real people or testimonials.</a:t>
            </a:r>
          </a:p>
          <a:p>
            <a:r>
              <a:rPr lang="en-US" dirty="0"/>
              <a:t>Mission: unlearn the "I'll just do it myself" reflex, write a clear brief, stay the accountable owner, and leave with proof you can show.</a:t>
            </a:r>
          </a:p>
          <a:p>
            <a:r>
              <a:rPr lang="en-US" dirty="0"/>
              <a:t>Source: /workspace/presentations/architecture/career-playbook-architecture.md (verified against commit 4dd4953).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Roadmap, from the site copy and plan: Modules 2–4 by October 17, 2026; no-code and developer paths (Modules 5–7): test tables, a broken help-bot brief, and a Proof Page for no-code learners; a Java &amp; Spring Boot sample agent on a free mock model, a break-fix lab, and a Proof Kit repo for developers; Module 8, Agent Proof Check (Owner and Builder tracks), self-scored with a public rubric.</a:t>
            </a:r>
          </a:p>
          <a:p>
            <a:r>
              <a:rPr lang="en-US" dirty="0"/>
              <a:t>All dates are the author's stated targets, not verified delivery or commitments. Whether Modules 2–4 ship on the stated date is unknown.</a:t>
            </a:r>
          </a:p>
          <a:p>
            <a:r>
              <a:rPr lang="en-US" dirty="0"/>
              <a:t>The ask: volunteer testers, coders and non-coders. "Volunteer as a tester" is a mailto: link with a prefilled subject and body; the site has no form.</a:t>
            </a:r>
          </a:p>
          <a:p>
            <a:r>
              <a:rPr lang="en-US" dirty="0"/>
              <a:t>Not accredited, not a vendor certification, and no job guarantees. The Agent Proof Check is not proctored and not accredited.</a:t>
            </a:r>
          </a:p>
          <a:p>
            <a:r>
              <a:rPr lang="en-US" dirty="0"/>
              <a:t>All examples in this deck are fictional.</a:t>
            </a:r>
          </a:p>
          <a:p>
            <a:r>
              <a:rPr lang="en-US" dirty="0"/>
              <a:t>Source: /workspace/presentations/architecture/career-playbook-architecture.md (verified against commit 4dd4953).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method taught in Module 1 (Hands Off the Keyboard, 60–90 min): the five-line Brief Card (Intent, Context, Constraints, Done when, Examples), two checkpoints, the Explain-It-Back test, and the Ownership Log.</a:t>
            </a:r>
          </a:p>
          <a:p>
            <a:r>
              <a:rPr lang="en-US" dirty="0"/>
              <a:t>Ownership Log rows hold: date, asked for, what changed and why, how checked, would undo.</a:t>
            </a:r>
          </a:p>
          <a:p>
            <a:r>
              <a:rPr lang="en-US" dirty="0"/>
              <a:t>Diagram (native shapes, built from the Infographic A spec in career-playbook-nlm-source.md): the Brief Card's five lines, the before and after checkpoints, then the Explain-It-Back test and the Ownership Log.</a:t>
            </a:r>
          </a:p>
          <a:p>
            <a:r>
              <a:rPr lang="en-US" dirty="0"/>
              <a:t>Source: /workspace/presentations/architecture/career-playbook-architecture.md (verified against commit 4dd4953).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1, Hands Off the Keyboard: 60–90 minutes, available now.</a:t>
            </a:r>
          </a:p>
          <a:p>
            <a:r>
              <a:rPr lang="en-US" dirty="0"/>
              <a:t>Bug cards: A spreadsheet (garden.csv), B flyer (flyer.txt), C web page (signup.html), D Java (TuneUp.java). All fictional.</a:t>
            </a:r>
          </a:p>
          <a:p>
            <a:r>
              <a:rPr lang="en-US" dirty="0"/>
              <a:t>Round 1: fix the bug through an AI assistant without typing in the card. Then the key ideas, the two-brief comparison, and Stay the owner: two checkpoints, Explain-It-Back, Ownership Log.</a:t>
            </a:r>
          </a:p>
          <a:p>
            <a:r>
              <a:rPr lang="en-US" dirty="0"/>
              <a:t>Rematch: Hands = lines typed by hand. Owner Score out of 10 from 8 checkboxes. Rank: 0 Hands = Golden Hands, 1–3 = Twitchy Fingers, 4+ = Old Habits; "Eyes Closed" if the result was not checked.</a:t>
            </a:r>
          </a:p>
          <a:p>
            <a:r>
              <a:rPr lang="en-US" dirty="0"/>
              <a:t>Artifact: Brief Card and Ownership Log saved in the browser; copy as text, download a template, then Clear my data.</a:t>
            </a:r>
          </a:p>
          <a:p>
            <a:r>
              <a:rPr lang="en-US" dirty="0"/>
              <a:t>NotebookLM Infographic B was planned for this slide; the storyboard uses numbered steps instead to keep layout variety.</a:t>
            </a:r>
          </a:p>
          <a:p>
            <a:r>
              <a:rPr lang="en-US" dirty="0"/>
              <a:t>Source: /workspace/presentations/architecture/career-playbook-architecture.md (verified against commit 4dd4953).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Static HTML and CSS plus one vanilla JS file, playbook.js. No framework, no build, no dependencies, no backend. Hosted on GitHub Pages.</a:t>
            </a:r>
          </a:p>
          <a:p>
            <a:r>
              <a:rPr lang="en-US" dirty="0"/>
              <a:t>All state is client-side in one localStorage key, abl_playbook_m1: challenge rounds, Brief Card fields, Ownership Log rows. connect-src 'none' blocks script network calls.</a:t>
            </a:r>
          </a:p>
          <a:p>
            <a:r>
              <a:rPr lang="en-US" dirty="0"/>
              <a:t>labs-counts.js sends only fixed labels (step_viewed, scroll_depth, card_picked, copy_clicked) to GoatCounter, on the live host, skipped for DNT/GPC.</a:t>
            </a:r>
          </a:p>
          <a:p>
            <a:r>
              <a:rPr lang="en-US" dirty="0"/>
              <a:t>Volunteering is a mailto: link opened in the visitor's own email app; the site has no form.</a:t>
            </a:r>
          </a:p>
          <a:p>
            <a:r>
              <a:rPr lang="en-US" dirty="0"/>
              <a:t>Diagram: career-playbook-architecture.png from the architecture doc, unchanged.</a:t>
            </a:r>
          </a:p>
          <a:p>
            <a:r>
              <a:rPr lang="en-US" dirty="0"/>
              <a:t>Source: /workspace/presentations/architecture/career-playbook-architecture.md (verified against commit 4dd4953).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Challenge entries, Hands count, rank, Owner Score, Brief Card, and Ownership Log never leave the browser: localStorage key abl_playbook_m1. Clear my data erases it.</a:t>
            </a:r>
          </a:p>
          <a:p>
            <a:r>
              <a:rPr lang="en-US" dirty="0"/>
              <a:t>GoatCounter receives page views, section reached, scroll bucket, and fixed button labels, on the live host only, skipped when DNT or GPC is on. Never sent: typed words, score, rank, names, email, title, referrer, or query string.</a:t>
            </a:r>
          </a:p>
          <a:p>
            <a:r>
              <a:rPr lang="en-US" dirty="0"/>
              <a:t>Terms and Privacy: script-src 'none', no counter. IP address and user agent reach GitHub Pages and GoatCounter as with any web request (disclosed on the Privacy page).</a:t>
            </a:r>
          </a:p>
          <a:p>
            <a:r>
              <a:rPr lang="en-US" dirty="0"/>
              <a:t>Text a learner pastes into their own AI assistant leaves the browser, outside this site; the lesson warns against real names, health details, account numbers, or passwords.</a:t>
            </a:r>
          </a:p>
          <a:p>
            <a:r>
              <a:rPr lang="en-US" dirty="0"/>
              <a:t>NotebookLM Infographic C was planned here; the storyboard uses three cards to keep layout variety.</a:t>
            </a:r>
          </a:p>
          <a:p>
            <a:r>
              <a:rPr lang="en-US" dirty="0"/>
              <a:t>Source: /workspace/presentations/architecture/career-playbook-architecture.md (verified against commit 4dd4953).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Arch" Type="http://schemas.openxmlformats.org/officeDocument/2006/relationships/image" Target="../media/career-playbook-architecture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4E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F2124"/>
          </a:solidFill>
          <a:ln w="12700">
            <a:solidFill>
              <a:srgbClr val="1F21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109728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4" name="Shape 2"/>
          <p:cNvSpPr/>
          <p:nvPr/>
        </p:nvSpPr>
        <p:spPr>
          <a:xfrm>
            <a:off x="1188720" y="109728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5" name="Shape 3"/>
          <p:cNvSpPr/>
          <p:nvPr/>
        </p:nvSpPr>
        <p:spPr>
          <a:xfrm>
            <a:off x="1737360" y="109728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0" y="109728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7" name="Shape 5"/>
          <p:cNvSpPr/>
          <p:nvPr/>
        </p:nvSpPr>
        <p:spPr>
          <a:xfrm>
            <a:off x="2834640" y="109728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64592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164592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10" name="Shape 8"/>
          <p:cNvSpPr/>
          <p:nvPr/>
        </p:nvSpPr>
        <p:spPr>
          <a:xfrm>
            <a:off x="1737360" y="164592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11" name="Shape 9"/>
          <p:cNvSpPr/>
          <p:nvPr/>
        </p:nvSpPr>
        <p:spPr>
          <a:xfrm>
            <a:off x="2286000" y="164592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12" name="Shape 10"/>
          <p:cNvSpPr/>
          <p:nvPr/>
        </p:nvSpPr>
        <p:spPr>
          <a:xfrm>
            <a:off x="2834640" y="164592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219456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14" name="Shape 12"/>
          <p:cNvSpPr/>
          <p:nvPr/>
        </p:nvSpPr>
        <p:spPr>
          <a:xfrm>
            <a:off x="1188720" y="219456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15" name="Shape 13"/>
          <p:cNvSpPr/>
          <p:nvPr/>
        </p:nvSpPr>
        <p:spPr>
          <a:xfrm>
            <a:off x="1737360" y="219456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16" name="Shape 14"/>
          <p:cNvSpPr/>
          <p:nvPr/>
        </p:nvSpPr>
        <p:spPr>
          <a:xfrm>
            <a:off x="2286000" y="2194560"/>
            <a:ext cx="329184" cy="329184"/>
          </a:xfrm>
          <a:prstGeom prst="rect">
            <a:avLst/>
          </a:prstGeom>
          <a:solidFill>
            <a:srgbClr val="D9482B"/>
          </a:solidFill>
          <a:ln/>
        </p:spPr>
      </p:sp>
      <p:sp>
        <p:nvSpPr>
          <p:cNvPr id="17" name="Shape 15"/>
          <p:cNvSpPr/>
          <p:nvPr/>
        </p:nvSpPr>
        <p:spPr>
          <a:xfrm>
            <a:off x="2834640" y="219456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274320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19" name="Shape 17"/>
          <p:cNvSpPr/>
          <p:nvPr/>
        </p:nvSpPr>
        <p:spPr>
          <a:xfrm>
            <a:off x="1188720" y="274320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20" name="Shape 18"/>
          <p:cNvSpPr/>
          <p:nvPr/>
        </p:nvSpPr>
        <p:spPr>
          <a:xfrm>
            <a:off x="1737360" y="274320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21" name="Shape 19"/>
          <p:cNvSpPr/>
          <p:nvPr/>
        </p:nvSpPr>
        <p:spPr>
          <a:xfrm>
            <a:off x="2286000" y="274320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22" name="Shape 20"/>
          <p:cNvSpPr/>
          <p:nvPr/>
        </p:nvSpPr>
        <p:spPr>
          <a:xfrm>
            <a:off x="2834640" y="274320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329184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24" name="Shape 22"/>
          <p:cNvSpPr/>
          <p:nvPr/>
        </p:nvSpPr>
        <p:spPr>
          <a:xfrm>
            <a:off x="1188720" y="329184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25" name="Shape 23"/>
          <p:cNvSpPr/>
          <p:nvPr/>
        </p:nvSpPr>
        <p:spPr>
          <a:xfrm>
            <a:off x="1737360" y="329184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26" name="Shape 24"/>
          <p:cNvSpPr/>
          <p:nvPr/>
        </p:nvSpPr>
        <p:spPr>
          <a:xfrm>
            <a:off x="2286000" y="329184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27" name="Shape 25"/>
          <p:cNvSpPr/>
          <p:nvPr/>
        </p:nvSpPr>
        <p:spPr>
          <a:xfrm>
            <a:off x="2834640" y="329184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" y="384048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29" name="Shape 27"/>
          <p:cNvSpPr/>
          <p:nvPr/>
        </p:nvSpPr>
        <p:spPr>
          <a:xfrm>
            <a:off x="1188720" y="384048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30" name="Shape 28"/>
          <p:cNvSpPr/>
          <p:nvPr/>
        </p:nvSpPr>
        <p:spPr>
          <a:xfrm>
            <a:off x="1737360" y="384048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31" name="Shape 29"/>
          <p:cNvSpPr/>
          <p:nvPr/>
        </p:nvSpPr>
        <p:spPr>
          <a:xfrm>
            <a:off x="2286000" y="384048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32" name="Shape 30"/>
          <p:cNvSpPr/>
          <p:nvPr/>
        </p:nvSpPr>
        <p:spPr>
          <a:xfrm>
            <a:off x="2834640" y="384048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33" name="Text 31"/>
          <p:cNvSpPr/>
          <p:nvPr/>
        </p:nvSpPr>
        <p:spPr>
          <a:xfrm>
            <a:off x="4480560" y="10058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48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FREE PUBLIC TOOL / OCTOBER 2026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480560" y="1554480"/>
            <a:ext cx="7223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1F2124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The Agentic AI Career Playbook</a:t>
            </a:r>
            <a:endParaRPr lang="en-US" sz="4600" dirty="0"/>
          </a:p>
        </p:txBody>
      </p:sp>
      <p:sp>
        <p:nvSpPr>
          <p:cNvPr id="35" name="Text 33"/>
          <p:cNvSpPr/>
          <p:nvPr/>
        </p:nvSpPr>
        <p:spPr>
          <a:xfrm>
            <a:off x="4480560" y="37490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free playbook for anyone who can communicate. No signup, nothing to buy, and it runs in the browser.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480560" y="49834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Arup Banerjee  ·  October 2026</a:t>
            </a:r>
          </a:p>
          <a:p>
            <a:pPr indent="0" marL="0">
              <a:buNone/>
            </a:pPr>
            <a:r>
              <a:rPr lang="en-US" sz="1400" i="1" dirty="0">
                <a:solidFill>
                  <a:srgbClr val="D948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Unlearn, relearn, stay relevant.</a:t>
            </a:r>
          </a:p>
        </p:txBody>
      </p:sp>
      <p:sp>
        <p:nvSpPr>
          <p:cNvPr id="37" name="Text 35"/>
          <p:cNvSpPr/>
          <p:nvPr/>
        </p:nvSpPr>
        <p:spPr>
          <a:xfrm>
            <a:off x="4480560" y="6263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F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Personal project built on my own time. Not affiliated with or endorsed by my employer; views are my own.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2124"/>
          </a:solidFill>
          <a:ln w="12700">
            <a:solidFill>
              <a:srgbClr val="1F21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484632"/>
            <a:ext cx="118872" cy="118872"/>
          </a:xfrm>
          <a:prstGeom prst="rect">
            <a:avLst/>
          </a:prstGeom>
          <a:solidFill>
            <a:srgbClr val="D9482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D948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SCALE, LIMITS, AND OPERATIONS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124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Module 1 scales for free; three limits remain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10908792" cy="0"/>
          </a:xfrm>
          <a:prstGeom prst="line">
            <a:avLst/>
          </a:prstGeom>
          <a:noFill/>
          <a:ln w="9525">
            <a:solidFill>
              <a:srgbClr val="A9AD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1168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2200"/>
              </a:spcAft>
              <a:buSzPct val="100000"/>
              <a:buChar char="•"/>
            </a:pPr>
            <a:r>
              <a:rPr lang="en-US" sz="22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Progress is per device: no sync, and a private window or cleared browser data loses it.</a:t>
            </a:r>
            <a:endParaRPr lang="en-US" sz="2200" dirty="0"/>
          </a:p>
          <a:p>
            <a:pPr marL="279400" indent="-279400">
              <a:spcAft>
                <a:spcPts val="2200"/>
              </a:spcAft>
              <a:buSzPct val="100000"/>
              <a:buChar char="•"/>
            </a:pPr>
            <a:r>
              <a:rPr lang="en-US" sz="22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Volunteer intake is one inbox, with every tester email handled by hand.</a:t>
            </a:r>
            <a:endParaRPr lang="en-US" sz="2200" dirty="0"/>
          </a:p>
          <a:p>
            <a:pPr marL="279400" indent="-279400">
              <a:spcAft>
                <a:spcPts val="2200"/>
              </a:spcAft>
              <a:buSzPct val="100000"/>
              <a:buChar char="•"/>
            </a:pPr>
            <a:r>
              <a:rPr lang="en-US" sz="22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Volunteer and navigation clicks may be undercounted in Chromium browsers.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863840" y="2011680"/>
            <a:ext cx="3685032" cy="3840480"/>
          </a:xfrm>
          <a:prstGeom prst="rect">
            <a:avLst/>
          </a:prstGeom>
          <a:solidFill>
            <a:srgbClr val="1F2124"/>
          </a:solidFill>
          <a:ln w="12700">
            <a:solidFill>
              <a:srgbClr val="1F21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83880" y="2240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48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CAPACITY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83880" y="269748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About 850,000 Module 1 loads a month fit under GitHub Pages' 100 GB soft cap, with no per-user compute or storage cost.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0080" y="63550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F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Personal project built on my own time. Not affiliated with or endorsed by my employer; views are my own.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817352" y="6355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09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2124"/>
          </a:solidFill>
          <a:ln w="12700">
            <a:solidFill>
              <a:srgbClr val="1F21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484632"/>
            <a:ext cx="118872" cy="118872"/>
          </a:xfrm>
          <a:prstGeom prst="rect">
            <a:avLst/>
          </a:prstGeom>
          <a:solidFill>
            <a:srgbClr val="D9482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D948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SEE THE TOOL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124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Clear communication changes outcomes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10908792" cy="0"/>
          </a:xfrm>
          <a:prstGeom prst="line">
            <a:avLst/>
          </a:prstGeom>
          <a:noFill/>
          <a:ln w="9525">
            <a:solidFill>
              <a:srgbClr val="A9AD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9456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1F2124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20/100</a:t>
            </a:r>
            <a:endParaRPr lang="en-US" sz="6600" dirty="0"/>
          </a:p>
        </p:txBody>
      </p:sp>
      <p:sp>
        <p:nvSpPr>
          <p:cNvPr id="8" name="Text 6"/>
          <p:cNvSpPr/>
          <p:nvPr/>
        </p:nvSpPr>
        <p:spPr>
          <a:xfrm>
            <a:off x="640080" y="38404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Vague brief for a fictional bike-shop bot: "Not safe for customer traffic"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0" y="2194560"/>
            <a:ext cx="0" cy="3291840"/>
          </a:xfrm>
          <a:prstGeom prst="line">
            <a:avLst/>
          </a:prstGeom>
          <a:noFill/>
          <a:ln w="9525">
            <a:solidFill>
              <a:srgbClr val="A9AD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219456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D9482B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66/100</a:t>
            </a:r>
            <a:endParaRPr lang="en-US" sz="6600" dirty="0"/>
          </a:p>
        </p:txBody>
      </p:sp>
      <p:sp>
        <p:nvSpPr>
          <p:cNvPr id="11" name="Text 9"/>
          <p:cNvSpPr/>
          <p:nvPr/>
        </p:nvSpPr>
        <p:spPr>
          <a:xfrm>
            <a:off x="4343400" y="38404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same bot with a five-line brief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818120" y="2194560"/>
            <a:ext cx="0" cy="3291840"/>
          </a:xfrm>
          <a:prstGeom prst="line">
            <a:avLst/>
          </a:prstGeom>
          <a:noFill/>
          <a:ln w="9525">
            <a:solidFill>
              <a:srgbClr val="A9ADB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219456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1F2124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5 lines</a:t>
            </a:r>
            <a:endParaRPr lang="en-US" sz="6600" dirty="0"/>
          </a:p>
        </p:txBody>
      </p:sp>
      <p:sp>
        <p:nvSpPr>
          <p:cNvPr id="14" name="Text 12"/>
          <p:cNvSpPr/>
          <p:nvPr/>
        </p:nvSpPr>
        <p:spPr>
          <a:xfrm>
            <a:off x="8046720" y="38404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Intent, Context, Constraints, Done when, Examples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63550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F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Personal project built on my own time. Not affiliated with or endorsed by my employer; views are my own.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817352" y="6355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09</a:t>
            </a:r>
            <a:endParaRPr lang="en-US" sz="1000" dirty="0"/>
          </a:p>
        </p:txBody>
      </p:sp>
      <p:sp>
        <p:nvSpPr>
          <p:cNvPr id="90" name="Caveat"/>
          <p:cNvSpPr txBox="1"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Scores from the free Agent Health Checker, a heuristic check. Author's run on Oct 1,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2124"/>
          </a:solidFill>
          <a:ln w="12700">
            <a:solidFill>
              <a:srgbClr val="1F21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484632"/>
            <a:ext cx="118872" cy="118872"/>
          </a:xfrm>
          <a:prstGeom prst="rect">
            <a:avLst/>
          </a:prstGeom>
          <a:solidFill>
            <a:srgbClr val="D9482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D948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WHO IT'S FOR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124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Delegation is the skill, and many people already have it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10908792" cy="0"/>
          </a:xfrm>
          <a:prstGeom prst="line">
            <a:avLst/>
          </a:prstGeom>
          <a:noFill/>
          <a:ln w="9525">
            <a:solidFill>
              <a:srgbClr val="A9ADB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011680"/>
            <a:ext cx="342900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5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011680"/>
            <a:ext cx="3429000" cy="64008"/>
          </a:xfrm>
          <a:prstGeom prst="rect">
            <a:avLst/>
          </a:prstGeom>
          <a:solidFill>
            <a:srgbClr val="D9482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743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124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Back to work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14400" y="338328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People returning to work, including homemakers, and career changers. Running a home already means briefing and checking work.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343400" y="2011680"/>
            <a:ext cx="342900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5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2011680"/>
            <a:ext cx="3429000" cy="64008"/>
          </a:xfrm>
          <a:prstGeom prst="rect">
            <a:avLst/>
          </a:prstGeom>
          <a:solidFill>
            <a:srgbClr val="1F2124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2743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124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Outside software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617720" y="338328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Nurses, teachers, and shop owners already hand off tasks, say what done looks like, and check the result.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046720" y="2011680"/>
            <a:ext cx="342900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5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2011680"/>
            <a:ext cx="3429000" cy="64008"/>
          </a:xfrm>
          <a:prstGeom prst="rect">
            <a:avLst/>
          </a:prstGeom>
          <a:solidFill>
            <a:srgbClr val="1F2124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21040" y="2743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124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Developers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321040" y="338328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Including 30-year Java veterans. Their unlearning: hands off the keyboard, and drop the "I'll just do it myself" reflex.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0080" y="63550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F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Personal project built on my own time. Not affiliated with or endorsed by my employer; views are my own.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817352" y="6355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09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2124"/>
          </a:solidFill>
          <a:ln w="12700">
            <a:solidFill>
              <a:srgbClr val="1F21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484632"/>
            <a:ext cx="118872" cy="118872"/>
          </a:xfrm>
          <a:prstGeom prst="rect">
            <a:avLst/>
          </a:prstGeom>
          <a:solidFill>
            <a:srgbClr val="D9482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D948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 (TARGETS) AND THE ASK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124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Next: three steps on the roadmap, and testers to help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10908792" cy="0"/>
          </a:xfrm>
          <a:prstGeom prst="line">
            <a:avLst/>
          </a:prstGeom>
          <a:noFill/>
          <a:ln w="9525">
            <a:solidFill>
              <a:srgbClr val="A9ADB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908792" cy="914400"/>
        </p:xfrm>
        <a:graphic>
          <a:graphicData uri="http://schemas.openxmlformats.org/drawingml/2006/table">
            <a:tbl>
              <a:tblPr/>
              <a:tblGrid>
                <a:gridCol w="3593592"/>
                <a:gridCol w="3657600"/>
                <a:gridCol w="36576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Milestone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1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Target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1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it adds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12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3D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Modules 2–4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3D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Oct 17, 2026 (target)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3D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See the Tool, the Hands-Off Challenge, Stay the Owner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3D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Modules 5–7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3D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Target, no date set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3D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No-code and developer paths (Java &amp; Spring Boot)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3D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Module 8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3D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Target, no date set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3D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Agent Proof Check: self-scored, with a public rubric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3D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ask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3D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Now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3D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Volunteer testers, coders and non-coders, by email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63550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F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Personal project built on my own time. Not affiliated with or endorsed by my employer; views are my own.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817352" y="6355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/ 09</a:t>
            </a:r>
            <a:endParaRPr lang="en-US" sz="1000" dirty="0"/>
          </a:p>
        </p:txBody>
      </p:sp>
      <p:sp>
        <p:nvSpPr>
          <p:cNvPr id="90" name="Targets note"/>
          <p:cNvSpPr txBox="1"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All dates are the author's targets, not commitments. Volunteer via the mailto: link on the playbook page.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2124"/>
          </a:solidFill>
          <a:ln w="12700">
            <a:solidFill>
              <a:srgbClr val="1F21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484632"/>
            <a:ext cx="118872" cy="118872"/>
          </a:xfrm>
          <a:prstGeom prst="rect">
            <a:avLst/>
          </a:prstGeom>
          <a:solidFill>
            <a:srgbClr val="D9482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D948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METHOD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124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Brief it, check it, own it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10908792" cy="0"/>
          </a:xfrm>
          <a:prstGeom prst="line">
            <a:avLst/>
          </a:prstGeom>
          <a:noFill/>
          <a:ln w="9525">
            <a:solidFill>
              <a:srgbClr val="A9AD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63550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F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Personal project built on my own time. Not affiliated with or endorsed by my employer; views are my own.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817352" y="6355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09</a:t>
            </a:r>
            <a:endParaRPr lang="en-US" sz="1000" dirty="0"/>
          </a:p>
        </p:txBody>
      </p:sp>
      <p:sp>
        <p:nvSpPr>
          <p:cNvPr id="101" name="Diagram head"/>
          <p:cNvSpPr/>
          <p:nvPr/>
        </p:nvSpPr>
        <p:spPr>
          <a:xfrm>
            <a:off x="640080" y="1783080"/>
            <a:ext cx="3886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D9482B"/>
                </a:solidFill>
                <a:latin typeface="IBM Plex Mono"/>
                <a:ea typeface="IBM Plex Mono"/>
                <a:cs typeface="IBM Plex Mono"/>
              </a:rPr>
              <a:t>01  BRIEF IT</a:t>
            </a:r>
          </a:p>
        </p:txBody>
      </p:sp>
      <p:sp>
        <p:nvSpPr>
          <p:cNvPr id="102" name="Diagram head"/>
          <p:cNvSpPr/>
          <p:nvPr/>
        </p:nvSpPr>
        <p:spPr>
          <a:xfrm>
            <a:off x="5029200" y="1783080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D9482B"/>
                </a:solidFill>
                <a:latin typeface="IBM Plex Mono"/>
                <a:ea typeface="IBM Plex Mono"/>
                <a:cs typeface="IBM Plex Mono"/>
              </a:rPr>
              <a:t>02  CHECK IT</a:t>
            </a:r>
          </a:p>
        </p:txBody>
      </p:sp>
      <p:sp>
        <p:nvSpPr>
          <p:cNvPr id="103" name="Diagram head"/>
          <p:cNvSpPr/>
          <p:nvPr/>
        </p:nvSpPr>
        <p:spPr>
          <a:xfrm>
            <a:off x="8549640" y="1783080"/>
            <a:ext cx="299923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D9482B"/>
                </a:solidFill>
                <a:latin typeface="IBM Plex Mono"/>
                <a:ea typeface="IBM Plex Mono"/>
                <a:cs typeface="IBM Plex Mono"/>
              </a:rPr>
              <a:t>03  OWN IT</a:t>
            </a:r>
          </a:p>
        </p:txBody>
      </p:sp>
      <p:sp>
        <p:nvSpPr>
          <p:cNvPr id="104" name="Diagram arrow"/>
          <p:cNvSpPr/>
          <p:nvPr/>
        </p:nvSpPr>
        <p:spPr>
          <a:xfrm>
            <a:off x="4636008" y="3648455"/>
            <a:ext cx="283464" cy="365760"/>
          </a:xfrm>
          <a:prstGeom prst="rightArrow">
            <a:avLst/>
          </a:prstGeom>
          <a:solidFill>
            <a:srgbClr val="D9482B"/>
          </a:solidFill>
          <a:ln>
            <a:noFill/>
          </a:ln>
        </p:spPr>
      </p:sp>
      <p:sp>
        <p:nvSpPr>
          <p:cNvPr id="105" name="Diagram arrow"/>
          <p:cNvSpPr/>
          <p:nvPr/>
        </p:nvSpPr>
        <p:spPr>
          <a:xfrm>
            <a:off x="8156448" y="3648455"/>
            <a:ext cx="283464" cy="365760"/>
          </a:xfrm>
          <a:prstGeom prst="rightArrow">
            <a:avLst/>
          </a:prstGeom>
          <a:solidFill>
            <a:srgbClr val="D9482B"/>
          </a:solidFill>
          <a:ln>
            <a:noFill/>
          </a:ln>
        </p:spPr>
      </p:sp>
      <p:sp>
        <p:nvSpPr>
          <p:cNvPr id="106" name="Brief Card"/>
          <p:cNvSpPr/>
          <p:nvPr/>
        </p:nvSpPr>
        <p:spPr>
          <a:xfrm>
            <a:off x="640080" y="2176272"/>
            <a:ext cx="3886200" cy="3310128"/>
          </a:xfrm>
          <a:prstGeom prst="rect">
            <a:avLst/>
          </a:prstGeom>
          <a:solidFill>
            <a:srgbClr val="1F2124"/>
          </a:solidFill>
          <a:ln>
            <a:noFill/>
          </a:ln>
        </p:spPr>
      </p:sp>
      <p:sp>
        <p:nvSpPr>
          <p:cNvPr id="107" name="Brief Card title"/>
          <p:cNvSpPr/>
          <p:nvPr/>
        </p:nvSpPr>
        <p:spPr>
          <a:xfrm>
            <a:off x="914400" y="2359152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Source Serif Pro"/>
                <a:ea typeface="Source Serif Pro"/>
                <a:cs typeface="Source Serif Pro"/>
              </a:rPr>
              <a:t>The five-line Brief Card</a:t>
            </a:r>
          </a:p>
        </p:txBody>
      </p:sp>
      <p:sp>
        <p:nvSpPr>
          <p:cNvPr id="108" name="Brief num"/>
          <p:cNvSpPr/>
          <p:nvPr/>
        </p:nvSpPr>
        <p:spPr>
          <a:xfrm>
            <a:off x="914400" y="2953512"/>
            <a:ext cx="329184" cy="329184"/>
          </a:xfrm>
          <a:prstGeom prst="rect">
            <a:avLst/>
          </a:prstGeom>
          <a:solidFill>
            <a:srgbClr val="D9482B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109" name="Brief line"/>
          <p:cNvSpPr/>
          <p:nvPr/>
        </p:nvSpPr>
        <p:spPr>
          <a:xfrm>
            <a:off x="1389888" y="2889504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Intent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en-US" sz="1300" dirty="0">
                <a:solidFill>
                  <a:srgbClr val="C9CCD1"/>
                </a:solidFill>
                <a:latin typeface="IBM Plex Sans"/>
                <a:ea typeface="IBM Plex Sans"/>
                <a:cs typeface="IBM Plex Sans"/>
              </a:rPr>
              <a:t>what you want</a:t>
            </a:r>
          </a:p>
        </p:txBody>
      </p:sp>
      <p:sp>
        <p:nvSpPr>
          <p:cNvPr id="110" name="Brief num"/>
          <p:cNvSpPr/>
          <p:nvPr/>
        </p:nvSpPr>
        <p:spPr>
          <a:xfrm>
            <a:off x="914400" y="3456432"/>
            <a:ext cx="329184" cy="329184"/>
          </a:xfrm>
          <a:prstGeom prst="rect">
            <a:avLst/>
          </a:prstGeom>
          <a:solidFill>
            <a:srgbClr val="D9482B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11" name="Brief line"/>
          <p:cNvSpPr/>
          <p:nvPr/>
        </p:nvSpPr>
        <p:spPr>
          <a:xfrm>
            <a:off x="1389888" y="3392424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Context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en-US" sz="1300" dirty="0">
                <a:solidFill>
                  <a:srgbClr val="C9CCD1"/>
                </a:solidFill>
                <a:latin typeface="IBM Plex Sans"/>
                <a:ea typeface="IBM Plex Sans"/>
                <a:cs typeface="IBM Plex Sans"/>
              </a:rPr>
              <a:t>what the agent needs to know</a:t>
            </a:r>
          </a:p>
        </p:txBody>
      </p:sp>
      <p:sp>
        <p:nvSpPr>
          <p:cNvPr id="112" name="Brief num"/>
          <p:cNvSpPr/>
          <p:nvPr/>
        </p:nvSpPr>
        <p:spPr>
          <a:xfrm>
            <a:off x="914400" y="3959352"/>
            <a:ext cx="329184" cy="329184"/>
          </a:xfrm>
          <a:prstGeom prst="rect">
            <a:avLst/>
          </a:prstGeom>
          <a:solidFill>
            <a:srgbClr val="D9482B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13" name="Brief line"/>
          <p:cNvSpPr/>
          <p:nvPr/>
        </p:nvSpPr>
        <p:spPr>
          <a:xfrm>
            <a:off x="1389888" y="3895344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Constraints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en-US" sz="1300" dirty="0">
                <a:solidFill>
                  <a:srgbClr val="C9CCD1"/>
                </a:solidFill>
                <a:latin typeface="IBM Plex Sans"/>
                <a:ea typeface="IBM Plex Sans"/>
                <a:cs typeface="IBM Plex Sans"/>
              </a:rPr>
              <a:t>what it must not do</a:t>
            </a:r>
          </a:p>
        </p:txBody>
      </p:sp>
      <p:sp>
        <p:nvSpPr>
          <p:cNvPr id="114" name="Brief num"/>
          <p:cNvSpPr/>
          <p:nvPr/>
        </p:nvSpPr>
        <p:spPr>
          <a:xfrm>
            <a:off x="914400" y="4462272"/>
            <a:ext cx="329184" cy="329184"/>
          </a:xfrm>
          <a:prstGeom prst="rect">
            <a:avLst/>
          </a:prstGeom>
          <a:solidFill>
            <a:srgbClr val="D9482B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115" name="Brief line"/>
          <p:cNvSpPr/>
          <p:nvPr/>
        </p:nvSpPr>
        <p:spPr>
          <a:xfrm>
            <a:off x="1389888" y="4398264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Done when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en-US" sz="1300" dirty="0">
                <a:solidFill>
                  <a:srgbClr val="C9CCD1"/>
                </a:solidFill>
                <a:latin typeface="IBM Plex Sans"/>
                <a:ea typeface="IBM Plex Sans"/>
                <a:cs typeface="IBM Plex Sans"/>
              </a:rPr>
              <a:t>how you'll check that it worked</a:t>
            </a:r>
          </a:p>
        </p:txBody>
      </p:sp>
      <p:sp>
        <p:nvSpPr>
          <p:cNvPr id="116" name="Brief num"/>
          <p:cNvSpPr/>
          <p:nvPr/>
        </p:nvSpPr>
        <p:spPr>
          <a:xfrm>
            <a:off x="914400" y="4965192"/>
            <a:ext cx="329184" cy="329184"/>
          </a:xfrm>
          <a:prstGeom prst="rect">
            <a:avLst/>
          </a:prstGeom>
          <a:solidFill>
            <a:srgbClr val="D9482B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117" name="Brief line"/>
          <p:cNvSpPr/>
          <p:nvPr/>
        </p:nvSpPr>
        <p:spPr>
          <a:xfrm>
            <a:off x="1389888" y="4901184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Examples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en-US" sz="1300" dirty="0">
                <a:solidFill>
                  <a:srgbClr val="C9CCD1"/>
                </a:solidFill>
                <a:latin typeface="IBM Plex Sans"/>
                <a:ea typeface="IBM Plex Sans"/>
                <a:cs typeface="IBM Plex Sans"/>
              </a:rPr>
              <a:t>what good looks like</a:t>
            </a:r>
          </a:p>
        </p:txBody>
      </p:sp>
      <p:sp>
        <p:nvSpPr>
          <p:cNvPr id="118" name="Checkpoint"/>
          <p:cNvSpPr/>
          <p:nvPr/>
        </p:nvSpPr>
        <p:spPr>
          <a:xfrm>
            <a:off x="5029200" y="2176272"/>
            <a:ext cx="301752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A9ADB3"/>
            </a:solidFill>
          </a:ln>
        </p:spPr>
      </p:sp>
      <p:sp>
        <p:nvSpPr>
          <p:cNvPr id="119" name="Checkpoint bar"/>
          <p:cNvSpPr/>
          <p:nvPr/>
        </p:nvSpPr>
        <p:spPr>
          <a:xfrm>
            <a:off x="5029200" y="2176272"/>
            <a:ext cx="73152" cy="1298448"/>
          </a:xfrm>
          <a:prstGeom prst="rect">
            <a:avLst/>
          </a:prstGeom>
          <a:solidFill>
            <a:srgbClr val="D9482B"/>
          </a:solidFill>
          <a:ln>
            <a:noFill/>
          </a:ln>
        </p:spPr>
      </p:sp>
      <p:sp>
        <p:nvSpPr>
          <p:cNvPr id="120" name="Checkpoint text"/>
          <p:cNvSpPr/>
          <p:nvPr/>
        </p:nvSpPr>
        <p:spPr>
          <a:xfrm>
            <a:off x="5257800" y="2286000"/>
            <a:ext cx="2651760" cy="1078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D9482B"/>
                </a:solidFill>
                <a:latin typeface="IBM Plex Mono"/>
                <a:ea typeface="IBM Plex Mono"/>
                <a:cs typeface="IBM Plex Mono"/>
              </a:rPr>
              <a:t>BEFORE THE WORK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en-US" sz="1450" dirty="0">
                <a:solidFill>
                  <a:srgbClr val="1F2124"/>
                </a:solidFill>
                <a:latin typeface="IBM Plex Sans"/>
                <a:ea typeface="IBM Plex Sans"/>
                <a:cs typeface="IBM Plex Sans"/>
              </a:rPr>
              <a:t>“Tell me what you think is wrong and what you plan to change.”</a:t>
            </a:r>
          </a:p>
        </p:txBody>
      </p:sp>
      <p:sp>
        <p:nvSpPr>
          <p:cNvPr id="121" name="Checkpoint"/>
          <p:cNvSpPr/>
          <p:nvPr/>
        </p:nvSpPr>
        <p:spPr>
          <a:xfrm>
            <a:off x="5029200" y="4187952"/>
            <a:ext cx="301752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A9ADB3"/>
            </a:solidFill>
          </a:ln>
        </p:spPr>
      </p:sp>
      <p:sp>
        <p:nvSpPr>
          <p:cNvPr id="122" name="Checkpoint bar"/>
          <p:cNvSpPr/>
          <p:nvPr/>
        </p:nvSpPr>
        <p:spPr>
          <a:xfrm>
            <a:off x="5029200" y="4187952"/>
            <a:ext cx="73152" cy="1298448"/>
          </a:xfrm>
          <a:prstGeom prst="rect">
            <a:avLst/>
          </a:prstGeom>
          <a:solidFill>
            <a:srgbClr val="D9482B"/>
          </a:solidFill>
          <a:ln>
            <a:noFill/>
          </a:ln>
        </p:spPr>
      </p:sp>
      <p:sp>
        <p:nvSpPr>
          <p:cNvPr id="123" name="Checkpoint text"/>
          <p:cNvSpPr/>
          <p:nvPr/>
        </p:nvSpPr>
        <p:spPr>
          <a:xfrm>
            <a:off x="5257800" y="4297680"/>
            <a:ext cx="2651760" cy="1078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D9482B"/>
                </a:solidFill>
                <a:latin typeface="IBM Plex Mono"/>
                <a:ea typeface="IBM Plex Mono"/>
                <a:cs typeface="IBM Plex Mono"/>
              </a:rPr>
              <a:t>AFTER THE WORK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en-US" sz="1450" dirty="0">
                <a:solidFill>
                  <a:srgbClr val="1F2124"/>
                </a:solidFill>
                <a:latin typeface="IBM Plex Sans"/>
                <a:ea typeface="IBM Plex Sans"/>
                <a:cs typeface="IBM Plex Sans"/>
              </a:rPr>
              <a:t>“List every change you made, and why.”</a:t>
            </a:r>
          </a:p>
        </p:txBody>
      </p:sp>
      <p:sp>
        <p:nvSpPr>
          <p:cNvPr id="124" name="Agent works arrow"/>
          <p:cNvSpPr/>
          <p:nvPr/>
        </p:nvSpPr>
        <p:spPr>
          <a:xfrm>
            <a:off x="6391656" y="3547872"/>
            <a:ext cx="292608" cy="566928"/>
          </a:xfrm>
          <a:prstGeom prst="downArrow">
            <a:avLst/>
          </a:prstGeom>
          <a:solidFill>
            <a:srgbClr val="A9ADB3"/>
          </a:solidFill>
          <a:ln>
            <a:noFill/>
          </a:ln>
        </p:spPr>
      </p:sp>
      <p:sp>
        <p:nvSpPr>
          <p:cNvPr id="125" name="Agent works label"/>
          <p:cNvSpPr/>
          <p:nvPr/>
        </p:nvSpPr>
        <p:spPr>
          <a:xfrm>
            <a:off x="6766560" y="3566160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100" i="1" dirty="0">
                <a:solidFill>
                  <a:srgbClr val="6B6F76"/>
                </a:solidFill>
                <a:latin typeface="IBM Plex Mono"/>
                <a:ea typeface="IBM Plex Mono"/>
                <a:cs typeface="IBM Plex Mono"/>
              </a:rPr>
              <a:t>agent does the work</a:t>
            </a:r>
          </a:p>
        </p:txBody>
      </p:sp>
      <p:sp>
        <p:nvSpPr>
          <p:cNvPr id="126" name="Badge"/>
          <p:cNvSpPr/>
          <p:nvPr/>
        </p:nvSpPr>
        <p:spPr>
          <a:xfrm>
            <a:off x="8549640" y="2176272"/>
            <a:ext cx="2999232" cy="1517904"/>
          </a:xfrm>
          <a:prstGeom prst="roundRect">
            <a:avLst/>
          </a:prstGeom>
          <a:solidFill>
            <a:srgbClr val="E4E5E7"/>
          </a:solidFill>
          <a:ln>
            <a:noFill/>
          </a:ln>
        </p:spPr>
      </p:sp>
      <p:sp>
        <p:nvSpPr>
          <p:cNvPr id="127" name="Badge mark"/>
          <p:cNvSpPr/>
          <p:nvPr/>
        </p:nvSpPr>
        <p:spPr>
          <a:xfrm>
            <a:off x="8778240" y="2404872"/>
            <a:ext cx="128016" cy="128016"/>
          </a:xfrm>
          <a:prstGeom prst="rect">
            <a:avLst/>
          </a:prstGeom>
          <a:solidFill>
            <a:srgbClr val="D9482B"/>
          </a:solidFill>
          <a:ln>
            <a:noFill/>
          </a:ln>
        </p:spPr>
      </p:sp>
      <p:sp>
        <p:nvSpPr>
          <p:cNvPr id="128" name="Badge text"/>
          <p:cNvSpPr/>
          <p:nvPr/>
        </p:nvSpPr>
        <p:spPr>
          <a:xfrm>
            <a:off x="8778240" y="2615184"/>
            <a:ext cx="2587751" cy="9692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F2124"/>
                </a:solidFill>
                <a:latin typeface="Source Serif Pro"/>
                <a:ea typeface="Source Serif Pro"/>
                <a:cs typeface="Source Serif Pro"/>
              </a:rPr>
              <a:t>Explain-It-Back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en-US" sz="1300" dirty="0">
                <a:solidFill>
                  <a:srgbClr val="3A3D42"/>
                </a:solidFill>
                <a:latin typeface="IBM Plex Sans"/>
                <a:ea typeface="IBM Plex Sans"/>
                <a:cs typeface="IBM Plex Sans"/>
              </a:rPr>
              <a:t>In two sentences, without looking: what was wrong, what changed, and how you know it's fixed.</a:t>
            </a:r>
          </a:p>
        </p:txBody>
      </p:sp>
      <p:sp>
        <p:nvSpPr>
          <p:cNvPr id="129" name="Badge"/>
          <p:cNvSpPr/>
          <p:nvPr/>
        </p:nvSpPr>
        <p:spPr>
          <a:xfrm>
            <a:off x="8549640" y="3968496"/>
            <a:ext cx="2999232" cy="1517904"/>
          </a:xfrm>
          <a:prstGeom prst="roundRect">
            <a:avLst/>
          </a:prstGeom>
          <a:solidFill>
            <a:srgbClr val="E4E5E7"/>
          </a:solidFill>
          <a:ln>
            <a:noFill/>
          </a:ln>
        </p:spPr>
      </p:sp>
      <p:sp>
        <p:nvSpPr>
          <p:cNvPr id="130" name="Badge mark"/>
          <p:cNvSpPr/>
          <p:nvPr/>
        </p:nvSpPr>
        <p:spPr>
          <a:xfrm>
            <a:off x="8778240" y="4197096"/>
            <a:ext cx="128016" cy="128016"/>
          </a:xfrm>
          <a:prstGeom prst="rect">
            <a:avLst/>
          </a:prstGeom>
          <a:solidFill>
            <a:srgbClr val="1F2124"/>
          </a:solidFill>
          <a:ln>
            <a:noFill/>
          </a:ln>
        </p:spPr>
      </p:sp>
      <p:sp>
        <p:nvSpPr>
          <p:cNvPr id="131" name="Badge text"/>
          <p:cNvSpPr/>
          <p:nvPr/>
        </p:nvSpPr>
        <p:spPr>
          <a:xfrm>
            <a:off x="8778240" y="4407408"/>
            <a:ext cx="2587751" cy="9692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F2124"/>
                </a:solidFill>
                <a:latin typeface="Source Serif Pro"/>
                <a:ea typeface="Source Serif Pro"/>
                <a:cs typeface="Source Serif Pro"/>
              </a:rPr>
              <a:t>Ownership Log</a:t>
            </a:r>
          </a:p>
          <a:p>
            <a:pPr algn="l" indent="0" marL="0">
              <a:spcAft>
                <a:spcPts val="0"/>
              </a:spcAft>
              <a:buNone/>
            </a:pPr>
            <a:r>
              <a:rPr lang="en-US" sz="1300" dirty="0">
                <a:solidFill>
                  <a:srgbClr val="3A3D42"/>
                </a:solidFill>
                <a:latin typeface="IBM Plex Sans"/>
                <a:ea typeface="IBM Plex Sans"/>
                <a:cs typeface="IBM Plex Sans"/>
              </a:rPr>
              <a:t>One line per delegation: date, what I asked for, what changed and why, how I checked, would I undo it?</a:t>
            </a:r>
          </a:p>
        </p:txBody>
      </p:sp>
      <p:sp>
        <p:nvSpPr>
          <p:cNvPr id="132" name="Takeaway"/>
          <p:cNvSpPr/>
          <p:nvPr/>
        </p:nvSpPr>
        <p:spPr>
          <a:xfrm>
            <a:off x="640080" y="5669280"/>
            <a:ext cx="1090879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800" b="1" i="1" dirty="0">
                <a:solidFill>
                  <a:srgbClr val="1F2124"/>
                </a:solidFill>
                <a:latin typeface="Source Serif Pro"/>
                <a:ea typeface="Source Serif Pro"/>
                <a:cs typeface="Source Serif Pro"/>
              </a:rPr>
              <a:t>Delegate the typing, not the responsibility.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2124"/>
          </a:solidFill>
          <a:ln w="12700">
            <a:solidFill>
              <a:srgbClr val="1F21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484632"/>
            <a:ext cx="118872" cy="118872"/>
          </a:xfrm>
          <a:prstGeom prst="rect">
            <a:avLst/>
          </a:prstGeom>
          <a:solidFill>
            <a:srgbClr val="D9482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D948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 1: HANDS OFF THE KEYBOARD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124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Module 1 in one journey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10908792" cy="0"/>
          </a:xfrm>
          <a:prstGeom prst="line">
            <a:avLst/>
          </a:prstGeom>
          <a:noFill/>
          <a:ln w="9525">
            <a:solidFill>
              <a:srgbClr val="A9AD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202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48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1920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1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Pick a bug card  </a:t>
            </a:r>
            <a:pPr indent="0" marL="0">
              <a:buNone/>
            </a:pPr>
            <a:r>
              <a:rPr lang="en-US" sz="18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of four fictional cards: spreadsheet, flyer, web page, or Java.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463040" y="2651760"/>
            <a:ext cx="10085832" cy="0"/>
          </a:xfrm>
          <a:prstGeom prst="line">
            <a:avLst/>
          </a:prstGeom>
          <a:noFill/>
          <a:ln w="12700">
            <a:solidFill>
              <a:srgbClr val="E4E5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7432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2743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1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Delegate with zero hands  </a:t>
            </a:r>
            <a:pPr indent="0" marL="0">
              <a:buNone/>
            </a:pPr>
            <a:r>
              <a:rPr lang="en-US" sz="18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get an AI assistant to fix it without typing in the card yourself.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463040" y="3474720"/>
            <a:ext cx="10085832" cy="0"/>
          </a:xfrm>
          <a:prstGeom prst="line">
            <a:avLst/>
          </a:prstGeom>
          <a:noFill/>
          <a:ln w="12700">
            <a:solidFill>
              <a:srgbClr val="E4E5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5661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35661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1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 it  </a:t>
            </a:r>
            <a:pPr indent="0" marL="0">
              <a:buNone/>
            </a:pPr>
            <a:r>
              <a:rPr lang="en-US" sz="18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checkpoints, then explain the fix back in two sentences.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463040" y="4297680"/>
            <a:ext cx="10085832" cy="0"/>
          </a:xfrm>
          <a:prstGeom prst="line">
            <a:avLst/>
          </a:prstGeom>
          <a:noFill/>
          <a:ln w="12700">
            <a:solidFill>
              <a:srgbClr val="E4E5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3891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63040" y="4389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1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Score yourself  </a:t>
            </a:r>
            <a:pPr indent="0" marL="0">
              <a:buNone/>
            </a:pPr>
            <a:r>
              <a:rPr lang="en-US" sz="18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Hands count, Owner Score out of 10, and a rank: Golden Hands to Old Habits.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463040" y="5120640"/>
            <a:ext cx="10085832" cy="0"/>
          </a:xfrm>
          <a:prstGeom prst="line">
            <a:avLst/>
          </a:prstGeom>
          <a:noFill/>
          <a:ln w="12700">
            <a:solidFill>
              <a:srgbClr val="E4E5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2120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463040" y="5212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1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Leave with proof  </a:t>
            </a:r>
            <a:pPr indent="0" marL="0">
              <a:buNone/>
            </a:pPr>
            <a:r>
              <a:rPr lang="en-US" sz="18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Brief Card and an Ownership Log, saved in your browser to copy or download.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" y="63550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F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Personal project built on my own time. Not affiliated with or endorsed by my employer; views are my own.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817352" y="6355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09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2124"/>
          </a:solidFill>
          <a:ln w="12700">
            <a:solidFill>
              <a:srgbClr val="1F21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484632"/>
            <a:ext cx="118872" cy="118872"/>
          </a:xfrm>
          <a:prstGeom prst="rect">
            <a:avLst/>
          </a:prstGeom>
          <a:solidFill>
            <a:srgbClr val="D9482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D948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HOW IT'S BUILT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124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Static pages, one script, the learner's browser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10908792" cy="0"/>
          </a:xfrm>
          <a:prstGeom prst="line">
            <a:avLst/>
          </a:prstGeom>
          <a:noFill/>
          <a:ln w="9525">
            <a:solidFill>
              <a:srgbClr val="A9AD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63550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F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Personal project built on my own time. Not affiliated with or endorsed by my employer; views are my own.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817352" y="6355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09</a:t>
            </a:r>
            <a:endParaRPr lang="en-US" sz="1000" dirty="0"/>
          </a:p>
        </p:txBody>
      </p:sp>
      <p:pic>
        <p:nvPicPr>
          <p:cNvPr id="40" name="Architecture diagram" descr="Career Playbook architecture: GitHub Pages serves static files to the learner's browser; playbook.js stores state in localStorage abl_playbook_m1; labs-counts.js sends fixed labels to GoatCounter; volunteering via mailto."/>
          <p:cNvPicPr>
            <a:picLocks noChangeAspect="1"/>
          </p:cNvPicPr>
          <p:nvPr/>
        </p:nvPicPr>
        <p:blipFill>
          <a:blip r:embed="rIdArch"/>
          <a:stretch>
            <a:fillRect/>
          </a:stretch>
        </p:blipFill>
        <p:spPr>
          <a:xfrm>
            <a:off x="1080760" y="1783080"/>
            <a:ext cx="10000000" cy="3684971"/>
          </a:xfrm>
          <a:prstGeom prst="rect">
            <a:avLst/>
          </a:prstGeom>
          <a:ln w="9525">
            <a:solidFill>
              <a:srgbClr val="E4E5E7"/>
            </a:solidFill>
          </a:ln>
        </p:spPr>
      </p:pic>
      <p:sp>
        <p:nvSpPr>
          <p:cNvPr id="41" name="Guide 1"/>
          <p:cNvSpPr txBox="1"/>
          <p:nvPr/>
        </p:nvSpPr>
        <p:spPr>
          <a:xfrm>
            <a:off x="640080" y="5605211"/>
            <a:ext cx="3474720" cy="548640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948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 Pages </a:t>
            </a:r>
            <a:r>
              <a:rPr lang="en-US" sz="16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serves HTML, CSS, and playbook.js</a:t>
            </a:r>
          </a:p>
        </p:txBody>
      </p:sp>
      <p:sp>
        <p:nvSpPr>
          <p:cNvPr id="42" name="Guide 2"/>
          <p:cNvSpPr txBox="1"/>
          <p:nvPr/>
        </p:nvSpPr>
        <p:spPr>
          <a:xfrm>
            <a:off x="4267200" y="5605211"/>
            <a:ext cx="3474720" cy="548640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948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localStorage </a:t>
            </a:r>
            <a:r>
              <a:rPr lang="en-US" sz="16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holds progress (abl_playbook_m1)</a:t>
            </a:r>
          </a:p>
        </p:txBody>
      </p:sp>
      <p:sp>
        <p:nvSpPr>
          <p:cNvPr id="43" name="Guide 3"/>
          <p:cNvSpPr txBox="1"/>
          <p:nvPr/>
        </p:nvSpPr>
        <p:spPr>
          <a:xfrm>
            <a:off x="7894320" y="5605211"/>
            <a:ext cx="3474720" cy="548640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948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mailto: </a:t>
            </a:r>
            <a:r>
              <a:rPr lang="en-US" sz="16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 the whole volunteer signup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2124"/>
          </a:solidFill>
          <a:ln w="12700">
            <a:solidFill>
              <a:srgbClr val="1F21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484632"/>
            <a:ext cx="118872" cy="118872"/>
          </a:xfrm>
          <a:prstGeom prst="rect">
            <a:avLst/>
          </a:prstGeom>
          <a:solidFill>
            <a:srgbClr val="D9482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D948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PRIVACY BY DESIGN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124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We never see the learner's work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10908792" cy="0"/>
          </a:xfrm>
          <a:prstGeom prst="line">
            <a:avLst/>
          </a:prstGeom>
          <a:noFill/>
          <a:ln w="9525">
            <a:solidFill>
              <a:srgbClr val="A9ADB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011680"/>
            <a:ext cx="342900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5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011680"/>
            <a:ext cx="3429000" cy="64008"/>
          </a:xfrm>
          <a:prstGeom prst="rect">
            <a:avLst/>
          </a:prstGeom>
          <a:solidFill>
            <a:srgbClr val="D9482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743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124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Stays on device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14400" y="338328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Typed work, scores, and logs live in one localStorage key. "Clear my data" erases it.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343400" y="2011680"/>
            <a:ext cx="342900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5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2011680"/>
            <a:ext cx="3429000" cy="64008"/>
          </a:xfrm>
          <a:prstGeom prst="rect">
            <a:avLst/>
          </a:prstGeom>
          <a:solidFill>
            <a:srgbClr val="1F2124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2743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124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Labels only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617720" y="338328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Anonymous counts use fixed labels only. Never sent: typed words, score, rank, names, or email.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046720" y="2011680"/>
            <a:ext cx="342900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5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2011680"/>
            <a:ext cx="3429000" cy="64008"/>
          </a:xfrm>
          <a:prstGeom prst="rect">
            <a:avLst/>
          </a:prstGeom>
          <a:solidFill>
            <a:srgbClr val="1F2124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21040" y="2743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124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No-script pages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321040" y="338328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Terms and Privacy pages load no scripts (script-src 'none') and are not counted.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0080" y="63550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F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Personal project built on my own time. Not affiliated with or endorsed by my employer; views are my own.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817352" y="6355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Graphite family</dc:title>
  <dc:subject>PptxGenJS Presentation</dc:subject>
  <dc:creator>PptxGenJS</dc:creator>
  <cp:lastModifiedBy>PptxGenJS</cp:lastModifiedBy>
  <cp:revision>1</cp:revision>
  <dcterms:created xsi:type="dcterms:W3CDTF">2026-10-07T05:20:57Z</dcterms:created>
  <dcterms:modified xsi:type="dcterms:W3CDTF">2026-10-07T05:20:57Z</dcterms:modified>
</cp:coreProperties>
</file>