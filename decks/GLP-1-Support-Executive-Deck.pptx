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8"/>
    <p:sldId id="258" r:id="rId4"/>
    <p:sldId id="260" r:id="rId6"/>
    <p:sldId id="266" r:id="rId17"/>
    <p:sldId id="267" r:id="rId18"/>
    <p:sldId id="264" r:id="rId10"/>
    <p:sldId id="259" r:id="rId5"/>
    <p:sldId id="261" r:id="rId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GLP-1 Support: a free, browser-only organizer. It organizes; it never advises.</a:t>
            </a:r>
          </a:p>
          <a:p>
            <a:r>
              <a:rPr lang="en-US"/>
              <a:t>Say up front: not medical advice, not for emergencies; emergency, call 911. Every example uses sample data only.</a:t>
            </a:r>
          </a:p>
          <a:p>
            <a:r>
              <a:rPr lang="en-US"/>
              <a:t>Source: glp1-support-architecture.md (verified against commit 4dd4953, prepared Oct 6, 2026), medical disclaimer and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tabs: Daily log; Protein, fluids &amp; fiber; Strength &amp; muscle; Maintenance / coming off; Insurance &amp; refills; Questions for my prescriber.</a:t>
            </a:r>
          </a:p>
          <a:p>
            <a:r>
              <a:rPr lang="en-US"/>
              <a:t>All notes stay in the browser; examples use sample data only ('Add 3 sample days').</a:t>
            </a:r>
          </a:p>
          <a:p>
            <a:r>
              <a:rPr lang="en-US"/>
              <a:t>Visual: native 3x2 tile diagram built from Infographic B in glp1-support-nlm-source.md, sample data only. CDC adult guideline: 150 minutes of moderate activity plus muscle-strengthening on 2 or more days.</a:t>
            </a:r>
          </a:p>
          <a:p>
            <a:r>
              <a:rPr lang="en-US"/>
              <a:t>Source: glp1-support-architecture.md,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Page weight is about 103 KB uncompressed (HTML 42 KB + app.js 37 KB + CSS + config), so 100 GB is about 970,000 uncached loads per month before gzip and caching help.</a:t>
            </a:r>
          </a:p>
          <a:p>
            <a:r>
              <a:rPr lang="en-US"/>
              <a:t>GitHub Pages soft limits: 100 GB bandwidth per month, 1 GB site, 10 builds per hour.</a:t>
            </a:r>
          </a:p>
          <a:p>
            <a:r>
              <a:rPr lang="en-US"/>
              <a:t>No backend means no scaling cost and no data-breach surface. It also means no backup and no cross-device use.</a:t>
            </a:r>
          </a:p>
          <a:p>
            <a:r>
              <a:rPr lang="en-US"/>
              <a:t>The Telegram help bot is one Python process with no failover; it was not running when checked.</a:t>
            </a:r>
          </a:p>
          <a:p>
            <a:r>
              <a:rPr lang="en-US"/>
              <a:t>Source: glp1-support-architecture.md, section 8 (GitHub Pages limits from docs.github.com, fetched Oct 6,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Safety wording is copied from the page as described in glp1-support-architecture.md: medical disclaimer, section 2 (Daily log and Insurance guardrails, 'Always visible'), section 7 (safety-content integrity).</a:t>
            </a:r>
          </a:p>
          <a:p>
            <a:r>
              <a:rPr lang="en-US"/>
              <a:t>Brand names of the two Medication Guides are left out on the slide by the deck rules; the doc names them.</a:t>
            </a:r>
          </a:p>
          <a:p>
            <a:r>
              <a:rPr lang="en-US"/>
              <a:t>No screenshot source was on the box, so the outline's annotated screenshot became three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Roadmap (only what the repo and drafts support): configure the separate usability form; re-check DailyMed labels before any wider promotion; refresh the bot FAQ.</a:t>
            </a:r>
          </a:p>
          <a:p>
            <a:r>
              <a:rPr lang="en-US"/>
              <a:t>The legal memo lists features that would raise risk if added (dosing tools, accounts or sync, analytics, AI chat), so the stated direction is to stay local-only.</a:t>
            </a:r>
          </a:p>
          <a:p>
            <a:r>
              <a:rPr lang="en-US"/>
              <a:t>Close: Not medical advice. Emergency: call 911. Took too much: Poison Help 1-800-222-1222. Crisis: call or text 988.</a:t>
            </a:r>
          </a:p>
          <a:p>
            <a:r>
              <a:rPr lang="en-US"/>
              <a:t>Source: glp1-support-architecture.md, section 9 and closing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CAMP study (2,628 adults at one U.S. academic health system), 88% got medication instructions, but only 27% got a referral to any other service, such as nutrition counseling. Among those who stopped, the most common reason was that insurance stopped covering the medicine (37.7%).</a:t>
            </a:r>
          </a:p>
          <a:p>
            <a:r>
              <a:rPr lang="en-US"/>
              <a:t>That leaves a lot for people to keep track of on their own.</a:t>
            </a:r>
          </a:p>
          <a:p>
            <a:r>
              <a:rPr lang="en-US"/>
              <a:t>Visual: native diagram 'Around the prescription' built from Infographic A in glp1-support-nlm-source.md. Also: 68% of 2,000 GLP-1 users said cost influenced whether they started or continued (Navitus Pulse Survey, Jan 2026); more than 1 in 3 of 585 users had trouble filling a prescription, most often out of stock (GoodRx Research via YouGov, Aug–Oct 2025). CAMP: Tewksbury et al., Frontiers in Nutrition, Sept. 8, 2026.</a:t>
            </a:r>
          </a:p>
          <a:p>
            <a:r>
              <a:rPr lang="en-US"/>
              <a:t>Source: glp1-support-architecture.md, section 1 'Why it exists'.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Content was last reviewed September 30, 2026 against the FDA Medication Guides and the FDA Drug Safety Communication of January 13, 2026, among others.</a:t>
            </a:r>
          </a:p>
          <a:p>
            <a:r>
              <a:rPr lang="en-US"/>
              <a:t>Commit 913dbb9 (Sep 30, 2026, 12:20 PM PT) applied the legal memo's wording, Terms, and export-disclaimer fixes. The memo is an AI-prepared issue-spotting memo, not legal advice.</a:t>
            </a:r>
          </a:p>
          <a:p>
            <a:r>
              <a:rPr lang="en-US"/>
              <a:t>Bug reports go to GitHub issue form 03-glp1-support.yml, which requires the no-health-info tick.</a:t>
            </a:r>
          </a:p>
          <a:p>
            <a:r>
              <a:rPr lang="en-US"/>
              <a:t>Live index.html and app.js were hash-checked against commit 4dd4953 on Oct 6, 2026, and matched.</a:t>
            </a:r>
          </a:p>
          <a:p>
            <a:r>
              <a:rPr lang="en-US"/>
              <a:t>Open: attorney review is unknown; the memo recommended a low-cost consult.</a:t>
            </a:r>
          </a:p>
          <a:p>
            <a:r>
              <a:rPr lang="en-US"/>
              <a:t>Source: glp1-support-architecture.md, header, sections 3, 6,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Diagram: glp1-support-architecture.png from the architecture doc, unchanged.</a:t>
            </a:r>
          </a:p>
          <a:p>
            <a:r>
              <a:rPr lang="en-US"/>
              <a:t>100% client-side. Static HTML, CSS, and vanilla JavaScript on GitHub Pages. Storage keys are all prefixed abl_glp1_ (8 keys). CSP sets connect-src 'none', form-action 'none', img-src 'self' data:. The page never loads labs-counts.js.</a:t>
            </a:r>
          </a:p>
          <a:p>
            <a:r>
              <a:rPr lang="en-US"/>
              <a:t>Source: glp1-support-architecture.md, sections 3, 4 (architecture diagram), and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Short answer: nothing the user types leaves the browser unless the user exports it. No analytics, no account, no signup. Exports (CSV, .txt, print, copy) only when the user acts; each carries the disclaimer. GitHub Pages logs visitors' IPs for security (disclosed on the page); the author doesn't receive these logs.</a:t>
            </a:r>
          </a:p>
          <a:p>
            <a:r>
              <a:rPr lang="en-US"/>
              <a:t>Visual: native diagram 'Where your information goes' built from Infographic C in glp1-support-nlm-source.md.</a:t>
            </a:r>
          </a:p>
          <a:p>
            <a:r>
              <a:rPr lang="en-US"/>
              <a:t>Source: glp1-support-architecture.md, sections 3 and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Arch" Type="http://schemas.openxmlformats.org/officeDocument/2006/relationships/image" Target="../media/glp1-support-architecture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E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10972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4640" y="164592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173736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2194560"/>
            <a:ext cx="329184" cy="329184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219456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73736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274320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872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73736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329184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872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0" name="Shape 28"/>
          <p:cNvSpPr/>
          <p:nvPr/>
        </p:nvSpPr>
        <p:spPr>
          <a:xfrm>
            <a:off x="173736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3840480"/>
            <a:ext cx="329184" cy="329184"/>
          </a:xfrm>
          <a:prstGeom prst="rect">
            <a:avLst/>
          </a:prstGeom>
          <a:solidFill>
            <a:srgbClr val="3A3D42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FREE PUBLIC TOOL / ARCHITECTURE BRIEF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80560" y="146304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GLP-1 Support: a free, private organizer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4480560" y="3291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browser-only notebook for people on, changing, or coming off GLP-1 medicines. It organizes; it doesn’t advise.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480560" y="5669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project  ·  Prepared October 6, 2026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480560" y="6263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40" name="Medical disclaimer box"/>
          <p:cNvSpPr/>
          <p:nvPr/>
        </p:nvSpPr>
        <p:spPr>
          <a:xfrm>
            <a:off x="4480560" y="4297680"/>
            <a:ext cx="7132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A9ADB3"/>
            </a:solidFill>
          </a:ln>
        </p:spPr>
        <p:txBody>
          <a:bodyPr wrap="square" lIns="320040" tIns="137160" rIns="182880" bIns="13716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Not for emergencies.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does not diagnose, does not give or calculate doses, and does not advise starting, stopping, or changing any medicine.</a:t>
            </a:r>
          </a:p>
          <a:p>
            <a:pPr indent="0" marL="0">
              <a:buNone/>
            </a:pPr>
            <a:r>
              <a:rPr lang="en-US" sz="1500" b="1" dirty="0">
                <a:solidFill>
                  <a:srgbClr val="D948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Emergency: call 911.</a:t>
            </a:r>
          </a:p>
        </p:txBody>
      </p:sp>
      <p:sp>
        <p:nvSpPr>
          <p:cNvPr id="41" name="Disclaimer accent"/>
          <p:cNvSpPr/>
          <p:nvPr/>
        </p:nvSpPr>
        <p:spPr>
          <a:xfrm>
            <a:off x="4480560" y="4297680"/>
            <a:ext cx="91440" cy="1188720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Six tools, one private notebook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Daily log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a 7-day summary</a:t>
            </a:r>
          </a:p>
          <a:p>
            <a:pPr marL="279400" indent="-2794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Protein, fluids &amp; fiber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checklist</a:t>
            </a:r>
          </a:p>
          <a:p>
            <a:pPr marL="279400" indent="-2794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Strength &amp; muscle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tracker</a:t>
            </a:r>
          </a:p>
          <a:p>
            <a:pPr marL="279400" indent="-2794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Maintenance / coming off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planner</a:t>
            </a:r>
          </a:p>
          <a:p>
            <a:pPr marL="279400" indent="-2794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Insurance &amp; refills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dates and questions</a:t>
            </a:r>
          </a:p>
          <a:p>
            <a:pPr marL="279400" indent="-2794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for my prescriber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</a:p>
          <a:p>
            <a:pPr indent="0" marL="0">
              <a:spcBef>
                <a:spcPts val="600"/>
              </a:spcBef>
              <a:buNone/>
            </a:pPr>
            <a:r>
              <a:rPr lang="en-US" sz="150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Shown with sample data only.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</a:t>
            </a:r>
            <a:endParaRPr lang="en-US" sz="1000" dirty="0"/>
          </a:p>
        </p:txBody>
      </p:sp>
      <p:sp>
        <p:nvSpPr>
          <p:cNvPr id="225" name="B tile 1"/>
          <p:cNvSpPr/>
          <p:nvPr/>
        </p:nvSpPr>
        <p:spPr>
          <a:xfrm>
            <a:off x="5303520" y="2011680"/>
            <a:ext cx="202082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26" name="B tile text 1"/>
          <p:cNvSpPr/>
          <p:nvPr/>
        </p:nvSpPr>
        <p:spPr>
          <a:xfrm>
            <a:off x="5422392" y="2121408"/>
            <a:ext cx="1783080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Daily log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Sample: “Nausea: mild · Fluids: 6 cups.” 7-day summary.</a:t>
            </a:r>
          </a:p>
        </p:txBody>
      </p:sp>
      <p:sp>
        <p:nvSpPr>
          <p:cNvPr id="227" name="B tile 2"/>
          <p:cNvSpPr/>
          <p:nvPr/>
        </p:nvSpPr>
        <p:spPr>
          <a:xfrm>
            <a:off x="7415784" y="2011680"/>
            <a:ext cx="202082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28" name="B tile text 2"/>
          <p:cNvSpPr/>
          <p:nvPr/>
        </p:nvSpPr>
        <p:spPr>
          <a:xfrm>
            <a:off x="7534656" y="2121408"/>
            <a:ext cx="1783080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Protein, fluids &amp; fiber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Daily checklist with general reference ranges, “not a prescription.”</a:t>
            </a:r>
          </a:p>
        </p:txBody>
      </p:sp>
      <p:sp>
        <p:nvSpPr>
          <p:cNvPr id="229" name="B tile 3"/>
          <p:cNvSpPr/>
          <p:nvPr/>
        </p:nvSpPr>
        <p:spPr>
          <a:xfrm>
            <a:off x="9528048" y="2011680"/>
            <a:ext cx="202082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30" name="B tile text 3"/>
          <p:cNvSpPr/>
          <p:nvPr/>
        </p:nvSpPr>
        <p:spPr>
          <a:xfrm>
            <a:off x="9646920" y="2121408"/>
            <a:ext cx="1783080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Strength &amp; muscle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Weekly tracker based on the CDC adult guideline.</a:t>
            </a:r>
          </a:p>
        </p:txBody>
      </p:sp>
      <p:sp>
        <p:nvSpPr>
          <p:cNvPr id="231" name="B tile 4"/>
          <p:cNvSpPr/>
          <p:nvPr/>
        </p:nvSpPr>
        <p:spPr>
          <a:xfrm>
            <a:off x="5303520" y="3621024"/>
            <a:ext cx="202082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32" name="B tile text 4"/>
          <p:cNvSpPr/>
          <p:nvPr/>
        </p:nvSpPr>
        <p:spPr>
          <a:xfrm>
            <a:off x="5422392" y="3730752"/>
            <a:ext cx="1783080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Maintenance / coming off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The plan agreed with the prescriber, 30/60/90-day check-ins.</a:t>
            </a:r>
          </a:p>
        </p:txBody>
      </p:sp>
      <p:sp>
        <p:nvSpPr>
          <p:cNvPr id="233" name="B tile 5"/>
          <p:cNvSpPr/>
          <p:nvPr/>
        </p:nvSpPr>
        <p:spPr>
          <a:xfrm>
            <a:off x="7415784" y="3621024"/>
            <a:ext cx="202082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34" name="B tile text 5"/>
          <p:cNvSpPr/>
          <p:nvPr/>
        </p:nvSpPr>
        <p:spPr>
          <a:xfrm>
            <a:off x="7534656" y="3730752"/>
            <a:ext cx="1783080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Insurance &amp; refills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Prior-auth and refill dates. “A checklist, not insurance advice.”</a:t>
            </a:r>
          </a:p>
        </p:txBody>
      </p:sp>
      <p:sp>
        <p:nvSpPr>
          <p:cNvPr id="235" name="B tile 6"/>
          <p:cNvSpPr/>
          <p:nvPr/>
        </p:nvSpPr>
        <p:spPr>
          <a:xfrm>
            <a:off x="9528048" y="3621024"/>
            <a:ext cx="202082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36" name="B tile text 6"/>
          <p:cNvSpPr/>
          <p:nvPr/>
        </p:nvSpPr>
        <p:spPr>
          <a:xfrm>
            <a:off x="9646920" y="3730752"/>
            <a:ext cx="1783080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Questions for my prescriber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Pick topics, then print or download the list.</a:t>
            </a:r>
          </a:p>
        </p:txBody>
      </p:sp>
      <p:sp>
        <p:nvSpPr>
          <p:cNvPr id="237" name="B safety strip"/>
          <p:cNvSpPr/>
          <p:nvPr/>
        </p:nvSpPr>
        <p:spPr>
          <a:xfrm>
            <a:off x="5303520" y="5230368"/>
            <a:ext cx="6245352" cy="621792"/>
          </a:xfrm>
          <a:prstGeom prst="rect">
            <a:avLst/>
          </a:prstGeom>
          <a:solidFill>
            <a:srgbClr val="1F2124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ALWAYS VISIBLE  </a:t>
            </a:r>
            <a:r>
              <a:rPr lang="en-US" sz="110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Not medical advice · Emergency: 911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Took too much: Poison Help 1-800-222-1222 · Crisis: call or text 988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AND LIMITS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Scale and limits: static files go a long way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~970K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uncached page loads a month fit under the cap (page weight about 103 KB)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2194560"/>
            <a:ext cx="0" cy="265176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9482B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100 GB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4343400" y="3749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Pages soft bandwidth limit per month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2194560"/>
            <a:ext cx="0" cy="265176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8046720" y="3749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data-breach surface: no backend, so no scaling cost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</a:t>
            </a:r>
            <a:endParaRPr lang="en-US" sz="1000" dirty="0"/>
          </a:p>
        </p:txBody>
      </p:sp>
      <p:sp>
        <p:nvSpPr>
          <p:cNvPr id="60" name="Trade-off strip"/>
          <p:cNvSpPr/>
          <p:nvPr/>
        </p:nvSpPr>
        <p:spPr>
          <a:xfrm>
            <a:off x="640080" y="5029200"/>
            <a:ext cx="10908792" cy="1097280"/>
          </a:xfrm>
          <a:prstGeom prst="rect">
            <a:avLst/>
          </a:prstGeom>
          <a:solidFill>
            <a:srgbClr val="E4E5E7"/>
          </a:solidFill>
          <a:ln>
            <a:noFill/>
          </a:ln>
        </p:spPr>
        <p:txBody>
          <a:bodyPr wrap="square" lIns="274320" tIns="91440" rIns="274320" bIns="9144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TRADE-OFFS</a:t>
            </a:r>
          </a:p>
          <a:p>
            <a:pPr indent="0" marL="0">
              <a:buNone/>
            </a:pPr>
            <a:r>
              <a:rPr lang="en-US" sz="16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is per device: </a:t>
            </a: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backup and no cross-device use.</a:t>
            </a:r>
          </a:p>
          <a:p>
            <a:pPr indent="0" marL="0">
              <a:buNone/>
            </a:pPr>
            <a:r>
              <a:rPr lang="en-US" sz="16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help bot runs on a single box: </a:t>
            </a: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process, no failover.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BY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It organizes, it never advises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34290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3429000" cy="64008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Never advises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2880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does not diagnose, does not give or calculate doses, and does not advise starting, stopping, or changing any medicine.</a:t>
            </a:r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points to sources of medication.</a:t>
            </a:r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4290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011680"/>
            <a:ext cx="3429000" cy="64008"/>
          </a:xfrm>
          <a:prstGeom prst="rect">
            <a:avLst/>
          </a:prstGeom>
          <a:solidFill>
            <a:srgbClr val="1F2124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Sourced red flags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3337560"/>
            <a:ext cx="2880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red-flag card summarizing two Medication Guides (“not a complete list”), always visible.</a:t>
            </a:r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red-flag text is static and sourced.</a:t>
            </a:r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4290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011680"/>
            <a:ext cx="3429000" cy="64008"/>
          </a:xfrm>
          <a:prstGeom prst="rect">
            <a:avLst/>
          </a:prstGeom>
          <a:solidFill>
            <a:srgbClr val="1F2124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Fixed messages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21040" y="3337560"/>
            <a:ext cx="2880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save, fixed messages point to the care team or 911 when a red flag is ticked, a symptom is marked severe, or vomiting or diarrhea is moderate or severe.</a:t>
            </a:r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Emergency? Call 911. Took too much? Poison Help 1-800-222-1222. In crisis? Call or text 988.</a:t>
            </a:r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</a:t>
            </a:r>
            <a:endParaRPr lang="en-US" sz="1000" dirty="0"/>
          </a:p>
        </p:txBody>
      </p:sp>
      <p:sp>
        <p:nvSpPr>
          <p:cNvPr id="60" name="Banner rule"/>
          <p:cNvSpPr/>
          <p:nvPr/>
        </p:nvSpPr>
        <p:spPr>
          <a:xfrm>
            <a:off x="640080" y="5623560"/>
            <a:ext cx="64008" cy="548640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61" name="Banner text"/>
          <p:cNvSpPr/>
          <p:nvPr/>
        </p:nvSpPr>
        <p:spPr>
          <a:xfrm>
            <a:off x="868680" y="562356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“No alert doesn’t mean you’re okay.”</a:t>
            </a: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“This tool can’t judge how serious a symptom is.”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Direction: stay local-only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304495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 step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Will not do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Feedback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Set up the usability form (no health questions)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analytics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Re-check DailyMed labels before wider promotion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dosing tools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Help bot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Refresh the bot FAQ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AI chat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Keep every note on the user’s device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D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Add accounts or sync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A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</a:t>
            </a:r>
            <a:endParaRPr lang="en-US" sz="1000" dirty="0"/>
          </a:p>
        </p:txBody>
      </p:sp>
      <p:sp>
        <p:nvSpPr>
          <p:cNvPr id="60" name="Why rule"/>
          <p:cNvSpPr/>
          <p:nvPr/>
        </p:nvSpPr>
        <p:spPr>
          <a:xfrm>
            <a:off x="640080" y="5623560"/>
            <a:ext cx="64008" cy="594360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61" name="Why text"/>
          <p:cNvSpPr/>
          <p:nvPr/>
        </p:nvSpPr>
        <p:spPr>
          <a:xfrm>
            <a:off x="868680" y="5623560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Why: </a:t>
            </a:r>
            <a:r>
              <a:rPr lang="en-US" sz="16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legal-risk memo lists these features as ones that would raise risk.</a:t>
            </a:r>
          </a:p>
          <a:p>
            <a:pPr indent="0" marL="0">
              <a:buNone/>
            </a:pPr>
            <a:r>
              <a:rPr lang="en-US" sz="1300" b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Emergency: call 911. Took too much: Poison Help 1-800-222-1222. Crisis: call or text 988.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EXISTS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gap after the prescription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920240"/>
            <a:ext cx="32278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CAMP study</a:t>
            </a:r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2,628 adults at one U.S. academic health system</a:t>
            </a:r>
          </a:p>
          <a:p>
            <a:pPr indent="0" marL="0">
              <a:buNone/>
            </a:pPr>
            <a:r>
              <a:rPr lang="en-US" sz="32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88%</a:t>
            </a:r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got medication instructions</a:t>
            </a:r>
          </a:p>
          <a:p>
            <a:pPr indent="0" marL="0">
              <a:buNone/>
            </a:pPr>
            <a:r>
              <a:rPr lang="en-US" sz="3200" b="1" dirty="0">
                <a:solidFill>
                  <a:srgbClr val="D9482B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27%</a:t>
            </a:r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got a referral to any other service, such as nutrition counseling</a:t>
            </a:r>
          </a:p>
          <a:p>
            <a:pPr indent="0" marL="0">
              <a:buNone/>
            </a:pPr>
            <a:r>
              <a:rPr lang="en-US" sz="32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37.7%</a:t>
            </a:r>
          </a:p>
          <a:p>
            <a:pPr indent="0" marL="0">
              <a:buNone/>
            </a:pPr>
            <a:r>
              <a:rPr lang="en-US" sz="14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those who stopped: insurance stopped covering the medicine, the most common reason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</a:t>
            </a:r>
            <a:endParaRPr lang="en-US" sz="1000" dirty="0"/>
          </a:p>
        </p:txBody>
      </p:sp>
      <p:sp>
        <p:nvSpPr>
          <p:cNvPr id="201" name="A headline"/>
          <p:cNvSpPr/>
          <p:nvPr/>
        </p:nvSpPr>
        <p:spPr>
          <a:xfrm>
            <a:off x="640080" y="19202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2124"/>
                </a:solidFill>
                <a:latin typeface="Source Serif Pro"/>
                <a:ea typeface="Source Serif Pro"/>
                <a:cs typeface="Source Serif Pro"/>
              </a:rPr>
              <a:t>A lot happens between appointments.</a:t>
            </a:r>
          </a:p>
        </p:txBody>
      </p:sp>
      <p:sp>
        <p:nvSpPr>
          <p:cNvPr id="202" name="A tile 1"/>
          <p:cNvSpPr/>
          <p:nvPr/>
        </p:nvSpPr>
        <p:spPr>
          <a:xfrm>
            <a:off x="640080" y="242316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03" name="A tile bar 1"/>
          <p:cNvSpPr/>
          <p:nvPr/>
        </p:nvSpPr>
        <p:spPr>
          <a:xfrm>
            <a:off x="640080" y="2423160"/>
            <a:ext cx="2651760" cy="45720"/>
          </a:xfrm>
          <a:prstGeom prst="rect">
            <a:avLst/>
          </a:prstGeom>
          <a:solidFill>
            <a:srgbClr val="1F2124"/>
          </a:solidFill>
          <a:ln>
            <a:noFill/>
          </a:ln>
        </p:spPr>
      </p:sp>
      <p:sp>
        <p:nvSpPr>
          <p:cNvPr id="204" name="A tile text 1"/>
          <p:cNvSpPr/>
          <p:nvPr/>
        </p:nvSpPr>
        <p:spPr>
          <a:xfrm>
            <a:off x="777240" y="256032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6B6F76"/>
                </a:solidFill>
                <a:latin typeface="IBM Plex Mono"/>
                <a:ea typeface="IBM Plex Mono"/>
                <a:cs typeface="IBM Plex Mono"/>
              </a:rPr>
              <a:t>INSTRUCTIONS</a:t>
            </a:r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800" b="1" dirty="0">
                <a:solidFill>
                  <a:srgbClr val="1F2124"/>
                </a:solidFill>
                <a:latin typeface="Source Serif Pro"/>
                <a:ea typeface="Source Serif Pro"/>
                <a:cs typeface="Source Serif Pro"/>
              </a:rPr>
              <a:t>88%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said they got medication instructions (CAMP)</a:t>
            </a:r>
          </a:p>
        </p:txBody>
      </p:sp>
      <p:sp>
        <p:nvSpPr>
          <p:cNvPr id="205" name="A tile 2"/>
          <p:cNvSpPr/>
          <p:nvPr/>
        </p:nvSpPr>
        <p:spPr>
          <a:xfrm>
            <a:off x="5303520" y="242316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06" name="A tile bar 2"/>
          <p:cNvSpPr/>
          <p:nvPr/>
        </p:nvSpPr>
        <p:spPr>
          <a:xfrm>
            <a:off x="5303520" y="2423160"/>
            <a:ext cx="2651760" cy="45720"/>
          </a:xfrm>
          <a:prstGeom prst="rect">
            <a:avLst/>
          </a:prstGeom>
          <a:solidFill>
            <a:srgbClr val="1F2124"/>
          </a:solidFill>
          <a:ln>
            <a:noFill/>
          </a:ln>
        </p:spPr>
      </p:sp>
      <p:sp>
        <p:nvSpPr>
          <p:cNvPr id="207" name="A tile text 2"/>
          <p:cNvSpPr/>
          <p:nvPr/>
        </p:nvSpPr>
        <p:spPr>
          <a:xfrm>
            <a:off x="5440680" y="256032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6B6F76"/>
                </a:solidFill>
                <a:latin typeface="IBM Plex Mono"/>
                <a:ea typeface="IBM Plex Mono"/>
                <a:cs typeface="IBM Plex Mono"/>
              </a:rPr>
              <a:t>COST</a:t>
            </a:r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800" b="1" dirty="0">
                <a:solidFill>
                  <a:srgbClr val="1F2124"/>
                </a:solidFill>
                <a:latin typeface="Source Serif Pro"/>
                <a:ea typeface="Source Serif Pro"/>
                <a:cs typeface="Source Serif Pro"/>
              </a:rPr>
              <a:t>68%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said cost influenced starting or continuing (Navitus)</a:t>
            </a:r>
          </a:p>
        </p:txBody>
      </p:sp>
      <p:sp>
        <p:nvSpPr>
          <p:cNvPr id="208" name="A tile 3"/>
          <p:cNvSpPr/>
          <p:nvPr/>
        </p:nvSpPr>
        <p:spPr>
          <a:xfrm>
            <a:off x="640080" y="397764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09" name="A tile bar 3"/>
          <p:cNvSpPr/>
          <p:nvPr/>
        </p:nvSpPr>
        <p:spPr>
          <a:xfrm>
            <a:off x="640080" y="3977640"/>
            <a:ext cx="2651760" cy="45720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210" name="A tile text 3"/>
          <p:cNvSpPr/>
          <p:nvPr/>
        </p:nvSpPr>
        <p:spPr>
          <a:xfrm>
            <a:off x="777240" y="411480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6B6F76"/>
                </a:solidFill>
                <a:latin typeface="IBM Plex Mono"/>
                <a:ea typeface="IBM Plex Mono"/>
                <a:cs typeface="IBM Plex Mono"/>
              </a:rPr>
              <a:t>REFERRALS</a:t>
            </a:r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800" b="1" dirty="0">
                <a:solidFill>
                  <a:srgbClr val="D9482B"/>
                </a:solidFill>
                <a:latin typeface="Source Serif Pro"/>
                <a:ea typeface="Source Serif Pro"/>
                <a:cs typeface="Source Serif Pro"/>
              </a:rPr>
              <a:t>27%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got a referral to any other service, such as nutrition counseling (CAMP)</a:t>
            </a:r>
          </a:p>
        </p:txBody>
      </p:sp>
      <p:sp>
        <p:nvSpPr>
          <p:cNvPr id="211" name="A tile 4"/>
          <p:cNvSpPr/>
          <p:nvPr/>
        </p:nvSpPr>
        <p:spPr>
          <a:xfrm>
            <a:off x="5303520" y="397764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5E7"/>
            </a:solidFill>
          </a:ln>
        </p:spPr>
      </p:sp>
      <p:sp>
        <p:nvSpPr>
          <p:cNvPr id="212" name="A tile bar 4"/>
          <p:cNvSpPr/>
          <p:nvPr/>
        </p:nvSpPr>
        <p:spPr>
          <a:xfrm>
            <a:off x="5303520" y="3977640"/>
            <a:ext cx="2651760" cy="45720"/>
          </a:xfrm>
          <a:prstGeom prst="rect">
            <a:avLst/>
          </a:prstGeom>
          <a:solidFill>
            <a:srgbClr val="1F2124"/>
          </a:solidFill>
          <a:ln>
            <a:noFill/>
          </a:ln>
        </p:spPr>
      </p:sp>
      <p:sp>
        <p:nvSpPr>
          <p:cNvPr id="213" name="A tile text 4"/>
          <p:cNvSpPr/>
          <p:nvPr/>
        </p:nvSpPr>
        <p:spPr>
          <a:xfrm>
            <a:off x="5440680" y="411480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6B6F76"/>
                </a:solidFill>
                <a:latin typeface="IBM Plex Mono"/>
                <a:ea typeface="IBM Plex Mono"/>
                <a:cs typeface="IBM Plex Mono"/>
              </a:rPr>
              <a:t>FILLING</a:t>
            </a:r>
          </a:p>
          <a:p>
            <a:pPr algn="l"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800" b="1" dirty="0">
                <a:solidFill>
                  <a:srgbClr val="1F2124"/>
                </a:solidFill>
                <a:latin typeface="Source Serif Pro"/>
                <a:ea typeface="Source Serif Pro"/>
                <a:cs typeface="Source Serif Pro"/>
              </a:rPr>
              <a:t>1 in 3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had trouble filling a prescription, most often out of stock (GoodRx)</a:t>
            </a:r>
          </a:p>
        </p:txBody>
      </p:sp>
      <p:sp>
        <p:nvSpPr>
          <p:cNvPr id="214" name="A document"/>
          <p:cNvSpPr/>
          <p:nvPr/>
        </p:nvSpPr>
        <p:spPr>
          <a:xfrm>
            <a:off x="3794760" y="3108960"/>
            <a:ext cx="1005840" cy="132588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1F2124"/>
            </a:solidFill>
          </a:ln>
        </p:spPr>
      </p:sp>
      <p:sp>
        <p:nvSpPr>
          <p:cNvPr id="215" name="A doc line 1"/>
          <p:cNvSpPr/>
          <p:nvPr/>
        </p:nvSpPr>
        <p:spPr>
          <a:xfrm>
            <a:off x="3975811" y="3400653"/>
            <a:ext cx="603504" cy="27432"/>
          </a:xfrm>
          <a:prstGeom prst="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216" name="A doc line 2"/>
          <p:cNvSpPr/>
          <p:nvPr/>
        </p:nvSpPr>
        <p:spPr>
          <a:xfrm>
            <a:off x="3975811" y="3586276"/>
            <a:ext cx="603504" cy="27432"/>
          </a:xfrm>
          <a:prstGeom prst="rect">
            <a:avLst/>
          </a:prstGeom>
          <a:solidFill>
            <a:srgbClr val="A9ADB3"/>
          </a:solidFill>
          <a:ln>
            <a:noFill/>
          </a:ln>
        </p:spPr>
      </p:sp>
      <p:sp>
        <p:nvSpPr>
          <p:cNvPr id="217" name="A doc line 3"/>
          <p:cNvSpPr/>
          <p:nvPr/>
        </p:nvSpPr>
        <p:spPr>
          <a:xfrm>
            <a:off x="3975811" y="3771900"/>
            <a:ext cx="603504" cy="27432"/>
          </a:xfrm>
          <a:prstGeom prst="rect">
            <a:avLst/>
          </a:prstGeom>
          <a:solidFill>
            <a:srgbClr val="A9ADB3"/>
          </a:solidFill>
          <a:ln>
            <a:noFill/>
          </a:ln>
        </p:spPr>
      </p:sp>
      <p:sp>
        <p:nvSpPr>
          <p:cNvPr id="218" name="A doc line 4"/>
          <p:cNvSpPr/>
          <p:nvPr/>
        </p:nvSpPr>
        <p:spPr>
          <a:xfrm>
            <a:off x="3975811" y="3957523"/>
            <a:ext cx="382219" cy="27432"/>
          </a:xfrm>
          <a:prstGeom prst="rect">
            <a:avLst/>
          </a:prstGeom>
          <a:solidFill>
            <a:srgbClr val="A9ADB3"/>
          </a:solidFill>
          <a:ln>
            <a:noFill/>
          </a:ln>
        </p:spPr>
      </p:sp>
      <p:sp>
        <p:nvSpPr>
          <p:cNvPr id="219" name="A doc label"/>
          <p:cNvSpPr/>
          <p:nvPr/>
        </p:nvSpPr>
        <p:spPr>
          <a:xfrm>
            <a:off x="3566160" y="44988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1F2124"/>
                </a:solidFill>
                <a:latin typeface="IBM Plex Mono"/>
                <a:ea typeface="IBM Plex Mono"/>
                <a:cs typeface="IBM Plex Mono"/>
              </a:rPr>
              <a:t>THE PRESCRIPTION</a:t>
            </a:r>
          </a:p>
        </p:txBody>
      </p:sp>
      <p:cxnSp>
        <p:nvCxnSpPr>
          <p:cNvPr id="220" name="A link L0"/>
          <p:cNvCxnSpPr/>
          <p:nvPr/>
        </p:nvCxnSpPr>
        <p:spPr>
          <a:xfrm>
            <a:off x="3291840" y="3131820"/>
            <a:ext cx="502920" cy="0"/>
          </a:xfrm>
          <a:prstGeom prst="line">
            <a:avLst/>
          </a:prstGeom>
          <a:ln w="12700">
            <a:solidFill>
              <a:srgbClr val="A9ADB3"/>
            </a:solidFill>
          </a:ln>
        </p:spPr>
      </p:cxnSp>
      <p:cxnSp>
        <p:nvCxnSpPr>
          <p:cNvPr id="221" name="A link R0"/>
          <p:cNvCxnSpPr/>
          <p:nvPr/>
        </p:nvCxnSpPr>
        <p:spPr>
          <a:xfrm>
            <a:off x="4800600" y="3131820"/>
            <a:ext cx="502920" cy="0"/>
          </a:xfrm>
          <a:prstGeom prst="line">
            <a:avLst/>
          </a:prstGeom>
          <a:ln w="12700">
            <a:solidFill>
              <a:srgbClr val="A9ADB3"/>
            </a:solidFill>
          </a:ln>
        </p:spPr>
      </p:cxnSp>
      <p:cxnSp>
        <p:nvCxnSpPr>
          <p:cNvPr id="222" name="A link L1"/>
          <p:cNvCxnSpPr/>
          <p:nvPr/>
        </p:nvCxnSpPr>
        <p:spPr>
          <a:xfrm>
            <a:off x="3291840" y="4686300"/>
            <a:ext cx="502920" cy="0"/>
          </a:xfrm>
          <a:prstGeom prst="line">
            <a:avLst/>
          </a:prstGeom>
          <a:ln w="12700">
            <a:solidFill>
              <a:srgbClr val="A9ADB3"/>
            </a:solidFill>
          </a:ln>
        </p:spPr>
      </p:cxnSp>
      <p:cxnSp>
        <p:nvCxnSpPr>
          <p:cNvPr id="223" name="A link R1"/>
          <p:cNvCxnSpPr/>
          <p:nvPr/>
        </p:nvCxnSpPr>
        <p:spPr>
          <a:xfrm>
            <a:off x="4800600" y="4686300"/>
            <a:ext cx="502920" cy="0"/>
          </a:xfrm>
          <a:prstGeom prst="line">
            <a:avLst/>
          </a:prstGeom>
          <a:ln w="12700">
            <a:solidFill>
              <a:srgbClr val="A9ADB3"/>
            </a:solidFill>
          </a:ln>
        </p:spPr>
      </p:cxnSp>
      <p:sp>
        <p:nvSpPr>
          <p:cNvPr id="224" name="A sources"/>
          <p:cNvSpPr/>
          <p:nvPr/>
        </p:nvSpPr>
        <p:spPr>
          <a:xfrm>
            <a:off x="640080" y="550468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i="1" dirty="0">
                <a:solidFill>
                  <a:srgbClr val="6B6F76"/>
                </a:solidFill>
                <a:latin typeface="IBM Plex Sans"/>
                <a:ea typeface="IBM Plex Sans"/>
                <a:cs typeface="IBM Plex Sans"/>
              </a:rPr>
              <a:t>Sources: Tewksbury et al., Frontiers in Nutrition, Sept. 8, 2026 (CAMP, 2,628 adults) · Navitus Pulse Survey, Jan 2026 (2,000 users) · GoodRx Research via YouGov, Aug–Oct 2025 (585 users).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Governance: sourced, dated, reviewed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Checked against FDA Medication Guides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Content last reviewed September 30, 2026. Labels change, and the page says so.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265176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743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Legal-risk memo fixes applied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Wording, Terms, and export-disclaimer fixes (commit 913dbb9).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63040" y="347472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Bug form forbids health info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requires ticking “I did not include personal health information.”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63040" y="429768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389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page matches the commit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index.html and app.js hash-checked against 4dd4953 on October 6, 2026.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3040" y="5120640"/>
            <a:ext cx="10085832" cy="0"/>
          </a:xfrm>
          <a:prstGeom prst="line">
            <a:avLst/>
          </a:prstGeom>
          <a:noFill/>
          <a:ln w="12700">
            <a:solidFill>
              <a:srgbClr val="E4E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212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Attorney consult still open  </a:t>
            </a:r>
            <a:pPr indent="0" marL="0">
              <a:buNone/>
            </a:pPr>
            <a:r>
              <a:rPr lang="en-US" sz="18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memo recommended one. Whether an attorney has reviewed the page is unknown.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</a:t>
            </a:r>
            <a:endParaRPr lang="en-US" sz="1000" dirty="0"/>
          </a:p>
        </p:txBody>
      </p:sp>
      <p:sp>
        <p:nvSpPr>
          <p:cNvPr id="70" name="Status 1"/>
          <p:cNvSpPr/>
          <p:nvPr/>
        </p:nvSpPr>
        <p:spPr>
          <a:xfrm>
            <a:off x="10241280" y="192024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3D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</a:p>
        </p:txBody>
      </p:sp>
      <p:sp>
        <p:nvSpPr>
          <p:cNvPr id="71" name="Status 2"/>
          <p:cNvSpPr/>
          <p:nvPr/>
        </p:nvSpPr>
        <p:spPr>
          <a:xfrm>
            <a:off x="10241280" y="274320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3D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</a:p>
        </p:txBody>
      </p:sp>
      <p:sp>
        <p:nvSpPr>
          <p:cNvPr id="72" name="Status 3"/>
          <p:cNvSpPr/>
          <p:nvPr/>
        </p:nvSpPr>
        <p:spPr>
          <a:xfrm>
            <a:off x="10241280" y="356616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3D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</a:p>
        </p:txBody>
      </p:sp>
      <p:sp>
        <p:nvSpPr>
          <p:cNvPr id="73" name="Status 4"/>
          <p:cNvSpPr/>
          <p:nvPr/>
        </p:nvSpPr>
        <p:spPr>
          <a:xfrm>
            <a:off x="10241280" y="438912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3D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</a:p>
        </p:txBody>
      </p:sp>
      <p:sp>
        <p:nvSpPr>
          <p:cNvPr id="74" name="Status 5"/>
          <p:cNvSpPr/>
          <p:nvPr/>
        </p:nvSpPr>
        <p:spPr>
          <a:xfrm>
            <a:off x="10241280" y="5212080"/>
            <a:ext cx="1307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IT’S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Architecture: the browser is the only place data lives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8138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A9AD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0" y="1920240"/>
            <a:ext cx="24963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it left to right</a:t>
            </a:r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files on GitHub Pages and one script, app.js.</a:t>
            </a:r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sits in localStorage: abl_glp1_* (8 keys).</a:t>
            </a:r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strictest CSP in Labs: connect-src 'none', form-action 'none'.</a:t>
            </a:r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analytics script, no third-party code.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</a:t>
            </a:r>
            <a:endParaRPr lang="en-US" sz="1000" dirty="0"/>
          </a:p>
        </p:txBody>
      </p:sp>
      <p:pic>
        <p:nvPicPr>
          <p:cNvPr id="20" name="Architecture diagram" descr="GLP-1 Support architecture: the user's browser is the only place data lives"/>
          <p:cNvPicPr>
            <a:picLocks noChangeAspect="1"/>
          </p:cNvPicPr>
          <p:nvPr/>
        </p:nvPicPr>
        <p:blipFill>
          <a:blip r:embed="rIdArch"/>
          <a:stretch>
            <a:fillRect/>
          </a:stretch>
        </p:blipFill>
        <p:spPr>
          <a:xfrm>
            <a:off x="685800" y="2230501"/>
            <a:ext cx="8046720" cy="34942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2124"/>
          </a:solidFill>
          <a:ln w="12700">
            <a:solidFill>
              <a:srgbClr val="1F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84632"/>
            <a:ext cx="118872" cy="118872"/>
          </a:xfrm>
          <a:prstGeom prst="rect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948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AND PRIVACY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124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What leaves the browser: nothing the user types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9525">
            <a:solidFill>
              <a:srgbClr val="A9A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analytics, no account, no signup.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</a:p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Exports happen only when the user acts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each carries a disclaimer.</a:t>
            </a:r>
          </a:p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author can’t see or recover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what is saved.</a:t>
            </a:r>
          </a:p>
          <a:p>
            <a:pPr marL="279400" indent="-279400">
              <a:spcAft>
                <a:spcPts val="2000"/>
              </a:spcAft>
              <a:buSzPct val="100000"/>
              <a:buChar char="•"/>
            </a:pPr>
            <a:r>
              <a:rPr lang="en-US" sz="2000" b="1" dirty="0">
                <a:solidFill>
                  <a:srgbClr val="1F21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host logs visitors’ IPs</a:t>
            </a:r>
            <a:r>
              <a:rPr lang="en-US" sz="2000" dirty="0">
                <a:solidFill>
                  <a:srgbClr val="3A3D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security, and the page says so.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medical advice. Sample data only. Personal project built on my own time. Not affiliated with or endorsed by my employer; views are my own.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817352" y="6355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</a:t>
            </a:r>
            <a:endParaRPr lang="en-US" sz="1000" dirty="0"/>
          </a:p>
        </p:txBody>
      </p:sp>
      <p:sp>
        <p:nvSpPr>
          <p:cNvPr id="238" name="C boundary"/>
          <p:cNvSpPr/>
          <p:nvPr/>
        </p:nvSpPr>
        <p:spPr>
          <a:xfrm>
            <a:off x="5303520" y="2011680"/>
            <a:ext cx="34747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124"/>
            </a:solidFill>
          </a:ln>
        </p:spPr>
      </p:sp>
      <p:sp>
        <p:nvSpPr>
          <p:cNvPr id="239" name="C boundary label"/>
          <p:cNvSpPr/>
          <p:nvPr/>
        </p:nvSpPr>
        <p:spPr>
          <a:xfrm>
            <a:off x="5440680" y="21214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STAYS HERE, ON THIS DEVICE</a:t>
            </a:r>
          </a:p>
        </p:txBody>
      </p:sp>
      <p:sp>
        <p:nvSpPr>
          <p:cNvPr id="240" name="C laptop screen"/>
          <p:cNvSpPr/>
          <p:nvPr/>
        </p:nvSpPr>
        <p:spPr>
          <a:xfrm>
            <a:off x="6355080" y="2450592"/>
            <a:ext cx="1371600" cy="868680"/>
          </a:xfrm>
          <a:prstGeom prst="roundRect">
            <a:avLst>
              <a:gd name="adj" fmla="val 6000"/>
            </a:avLst>
          </a:prstGeom>
          <a:solidFill>
            <a:srgbClr val="1F2124"/>
          </a:solidFill>
          <a:ln>
            <a:noFill/>
          </a:ln>
        </p:spPr>
      </p:sp>
      <p:sp>
        <p:nvSpPr>
          <p:cNvPr id="241" name="C laptop base"/>
          <p:cNvSpPr/>
          <p:nvPr/>
        </p:nvSpPr>
        <p:spPr>
          <a:xfrm>
            <a:off x="6217920" y="3319272"/>
            <a:ext cx="1645920" cy="91440"/>
          </a:xfrm>
          <a:prstGeom prst="roundRect">
            <a:avLst/>
          </a:prstGeom>
          <a:solidFill>
            <a:srgbClr val="6B6F76"/>
          </a:solidFill>
          <a:ln>
            <a:noFill/>
          </a:ln>
        </p:spPr>
      </p:sp>
      <p:sp>
        <p:nvSpPr>
          <p:cNvPr id="242" name="C lock shackle"/>
          <p:cNvSpPr/>
          <p:nvPr/>
        </p:nvSpPr>
        <p:spPr>
          <a:xfrm>
            <a:off x="6949440" y="2642616"/>
            <a:ext cx="1828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9" name="C lock shackle hole"/>
          <p:cNvSpPr/>
          <p:nvPr/>
        </p:nvSpPr>
        <p:spPr>
          <a:xfrm>
            <a:off x="6986016" y="2679192"/>
            <a:ext cx="109728" cy="219456"/>
          </a:xfrm>
          <a:prstGeom prst="roundRect">
            <a:avLst>
              <a:gd name="adj" fmla="val 50000"/>
            </a:avLst>
          </a:prstGeom>
          <a:solidFill>
            <a:srgbClr val="1F2124"/>
          </a:solidFill>
          <a:ln>
            <a:noFill/>
          </a:ln>
        </p:spPr>
      </p:sp>
      <p:sp>
        <p:nvSpPr>
          <p:cNvPr id="243" name="C lock body"/>
          <p:cNvSpPr/>
          <p:nvPr/>
        </p:nvSpPr>
        <p:spPr>
          <a:xfrm>
            <a:off x="6912864" y="2834640"/>
            <a:ext cx="256032" cy="201168"/>
          </a:xfrm>
          <a:prstGeom prst="roundRect">
            <a:avLst/>
          </a:prstGeom>
          <a:solidFill>
            <a:srgbClr val="D9482B"/>
          </a:solidFill>
          <a:ln>
            <a:noFill/>
          </a:ln>
        </p:spPr>
      </p:sp>
      <p:sp>
        <p:nvSpPr>
          <p:cNvPr id="244" name="C stays text"/>
          <p:cNvSpPr/>
          <p:nvPr/>
        </p:nvSpPr>
        <p:spPr>
          <a:xfrm>
            <a:off x="5440680" y="3502152"/>
            <a:ext cx="3200400" cy="1344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Everything typed </a:t>
            </a: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is saved in the browser’s local storage.</a:t>
            </a:r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The maker can’t see or recover it. </a:t>
            </a:r>
            <a:r>
              <a:rPr lang="en-US" sz="12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“Clear my data”</a:t>
            </a: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 wipes it.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2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No analytics, account, cookies, ads, or third-party scripts.</a:t>
            </a:r>
          </a:p>
        </p:txBody>
      </p:sp>
      <p:cxnSp>
        <p:nvCxnSpPr>
          <p:cNvPr id="245" name="C export arrow"/>
          <p:cNvCxnSpPr/>
          <p:nvPr/>
        </p:nvCxnSpPr>
        <p:spPr>
          <a:xfrm>
            <a:off x="8778240" y="3474720"/>
            <a:ext cx="640080" cy="0"/>
          </a:xfrm>
          <a:prstGeom prst="line">
            <a:avLst/>
          </a:prstGeom>
          <a:ln w="19050">
            <a:solidFill>
              <a:srgbClr val="1F2124"/>
            </a:solidFill>
            <a:prstDash val="sysDot"/>
            <a:tailEnd type="triangle" w="med" len="med"/>
          </a:ln>
        </p:spPr>
      </p:cxnSp>
      <p:sp>
        <p:nvSpPr>
          <p:cNvPr id="246" name="C export box"/>
          <p:cNvSpPr/>
          <p:nvPr/>
        </p:nvSpPr>
        <p:spPr>
          <a:xfrm>
            <a:off x="9418320" y="2651760"/>
            <a:ext cx="2130552" cy="1645920"/>
          </a:xfrm>
          <a:prstGeom prst="rect">
            <a:avLst/>
          </a:prstGeom>
          <a:solidFill>
            <a:srgbClr val="F4F4F2"/>
          </a:solidFill>
          <a:ln w="9525">
            <a:solidFill>
              <a:srgbClr val="A9ADB3"/>
            </a:solidFill>
            <a:prstDash val="dash"/>
          </a:ln>
        </p:spPr>
      </p:sp>
      <p:sp>
        <p:nvSpPr>
          <p:cNvPr id="247" name="C export text"/>
          <p:cNvSpPr/>
          <p:nvPr/>
        </p:nvSpPr>
        <p:spPr>
          <a:xfrm>
            <a:off x="9528048" y="2743200"/>
            <a:ext cx="1911096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D9482B"/>
                </a:solidFill>
                <a:latin typeface="IBM Plex Mono"/>
                <a:ea typeface="IBM Plex Mono"/>
                <a:cs typeface="IBM Plex Mono"/>
              </a:rPr>
              <a:t>ONLY IF YOU EXPORT</a:t>
            </a:r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CSV, a plan or question list, print, or copy</a:t>
            </a:r>
          </a:p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3A3D42"/>
                </a:solidFill>
                <a:latin typeface="IBM Plex Sans"/>
                <a:ea typeface="IBM Plex Sans"/>
                <a:cs typeface="IBM Plex Sans"/>
              </a:rPr>
              <a:t>Ordinary, unencrypted copies. Each carries the not-medical-advice line.</a:t>
            </a:r>
          </a:p>
        </p:txBody>
      </p:sp>
      <p:sp>
        <p:nvSpPr>
          <p:cNvPr id="248" name="C footnote"/>
          <p:cNvSpPr/>
          <p:nvPr/>
        </p:nvSpPr>
        <p:spPr>
          <a:xfrm>
            <a:off x="5303520" y="5029200"/>
            <a:ext cx="624535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F2124"/>
                </a:solidFill>
                <a:latin typeface="IBM Plex Sans"/>
                <a:ea typeface="IBM Plex Sans"/>
                <a:cs typeface="IBM Plex Sans"/>
              </a:rPr>
              <a:t>Honest footnote: </a:t>
            </a:r>
            <a:r>
              <a:rPr lang="en-US" sz="1100" dirty="0">
                <a:solidFill>
                  <a:srgbClr val="6B6F76"/>
                </a:solidFill>
                <a:latin typeface="IBM Plex Sans"/>
                <a:ea typeface="IBM Plex Sans"/>
                <a:cs typeface="IBM Plex Sans"/>
              </a:rPr>
              <a:t>the page is hosted on GitHub Pages, which logs visitor IP addresses for security; the maker doesn’t receive those logs. Not a medical record: not connected to any doctor, pharmacy, or health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Graphite family</dc:title>
  <dc:subject>PptxGenJS Presentation</dc:subject>
  <dc:creator>PptxGenJS</dc:creator>
  <cp:lastModifiedBy>PptxGenJS</cp:lastModifiedBy>
  <cp:revision>1</cp:revision>
  <dcterms:created xsi:type="dcterms:W3CDTF">2026-10-07T05:20:57Z</dcterms:created>
  <dcterms:modified xsi:type="dcterms:W3CDTF">2026-10-07T05:20:57Z</dcterms:modified>
</cp:coreProperties>
</file>